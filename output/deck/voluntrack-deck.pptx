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e6e618b7e4735" /><Relationship Type="http://schemas.openxmlformats.org/officeDocument/2006/relationships/extended-properties" Target="/docProps/app.xml" Id="R6995db36b921420a" /><Relationship Type="http://schemas.openxmlformats.org/officeDocument/2006/relationships/officeDocument" Target="/ppt/presentation.xml" Id="R6ed1d11dc211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2e77da9b9f4f2b"/>
  </p:sldMasterIdLst>
  <p:notesMasterIdLst>
    <p:notesMasterId xmlns:r="http://schemas.openxmlformats.org/officeDocument/2006/relationships" r:id="R52e126aeae8d424d"/>
  </p:notesMasterIdLst>
  <p:sldIdLst>
    <p:sldId xmlns:r="http://schemas.openxmlformats.org/officeDocument/2006/relationships" id="256" r:id="R4c0f91bb57484fd6"/>
    <p:sldId xmlns:r="http://schemas.openxmlformats.org/officeDocument/2006/relationships" id="257" r:id="Radce1735470c4116"/>
    <p:sldId xmlns:r="http://schemas.openxmlformats.org/officeDocument/2006/relationships" id="258" r:id="R75655aa0342e41df"/>
    <p:sldId xmlns:r="http://schemas.openxmlformats.org/officeDocument/2006/relationships" id="259" r:id="Rca882872818d4c22"/>
    <p:sldId xmlns:r="http://schemas.openxmlformats.org/officeDocument/2006/relationships" id="260" r:id="R8d3aa5ba75e44ba4"/>
    <p:sldId xmlns:r="http://schemas.openxmlformats.org/officeDocument/2006/relationships" id="261" r:id="Rc5882febc5cb47c6"/>
    <p:sldId xmlns:r="http://schemas.openxmlformats.org/officeDocument/2006/relationships" id="262" r:id="R0309387932bd487f"/>
    <p:sldId xmlns:r="http://schemas.openxmlformats.org/officeDocument/2006/relationships" id="263" r:id="Re32c3dfe843c4bdd"/>
    <p:sldId xmlns:r="http://schemas.openxmlformats.org/officeDocument/2006/relationships" id="264" r:id="R5e678c2a3d344f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95f49259b4bbe" /><Relationship Type="http://schemas.openxmlformats.org/officeDocument/2006/relationships/slideMaster" Target="/ppt/slideMasters/slideMaster1.xml" Id="R662e77da9b9f4f2b" /><Relationship Type="http://schemas.openxmlformats.org/officeDocument/2006/relationships/notesMaster" Target="/ppt/notesMasters/notesMaster1.xml" Id="R52e126aeae8d424d" /><Relationship Type="http://schemas.openxmlformats.org/officeDocument/2006/relationships/presProps" Target="/ppt/presProps.xml" Id="Rb3116123bb8c45ba" /><Relationship Type="http://schemas.openxmlformats.org/officeDocument/2006/relationships/tableStyles" Target="/ppt/tableStyles.xml" Id="R05b09051363646c2" /><Relationship Type="http://schemas.openxmlformats.org/officeDocument/2006/relationships/slide" Target="/ppt/slides/slide1.xml" Id="R4c0f91bb57484fd6" /><Relationship Type="http://schemas.openxmlformats.org/officeDocument/2006/relationships/slide" Target="/ppt/slides/slide2.xml" Id="Radce1735470c4116" /><Relationship Type="http://schemas.openxmlformats.org/officeDocument/2006/relationships/slide" Target="/ppt/slides/slide3.xml" Id="R75655aa0342e41df" /><Relationship Type="http://schemas.openxmlformats.org/officeDocument/2006/relationships/slide" Target="/ppt/slides/slide4.xml" Id="Rca882872818d4c22" /><Relationship Type="http://schemas.openxmlformats.org/officeDocument/2006/relationships/slide" Target="/ppt/slides/slide5.xml" Id="R8d3aa5ba75e44ba4" /><Relationship Type="http://schemas.openxmlformats.org/officeDocument/2006/relationships/slide" Target="/ppt/slides/slide6.xml" Id="Rc5882febc5cb47c6" /><Relationship Type="http://schemas.openxmlformats.org/officeDocument/2006/relationships/slide" Target="/ppt/slides/slide7.xml" Id="R0309387932bd487f" /><Relationship Type="http://schemas.openxmlformats.org/officeDocument/2006/relationships/slide" Target="/ppt/slides/slide8.xml" Id="Re32c3dfe843c4bdd" /><Relationship Type="http://schemas.openxmlformats.org/officeDocument/2006/relationships/slide" Target="/ppt/slides/slide9.xml" Id="R5e678c2a3d344f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526920e3b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66945bef34f7b" /><Relationship Type="http://schemas.openxmlformats.org/officeDocument/2006/relationships/notesMaster" Target="/ppt/notesMasters/notesMaster1.xml" Id="Rbbb304937e32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a203552eb44a1" /><Relationship Type="http://schemas.openxmlformats.org/officeDocument/2006/relationships/notesMaster" Target="/ppt/notesMasters/notesMaster1.xml" Id="R6c1d212441dd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540f8225c48b6" /><Relationship Type="http://schemas.openxmlformats.org/officeDocument/2006/relationships/notesMaster" Target="/ppt/notesMasters/notesMaster1.xml" Id="Rc83f43dee753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2264f16be4065" /><Relationship Type="http://schemas.openxmlformats.org/officeDocument/2006/relationships/notesMaster" Target="/ppt/notesMasters/notesMaster1.xml" Id="R7ebe37a27ba14c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f66258db14635" /><Relationship Type="http://schemas.openxmlformats.org/officeDocument/2006/relationships/notesMaster" Target="/ppt/notesMasters/notesMaster1.xml" Id="Rc385983b99e54f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ed55b4d81443fa" /><Relationship Type="http://schemas.openxmlformats.org/officeDocument/2006/relationships/notesMaster" Target="/ppt/notesMasters/notesMaster1.xml" Id="R4dac587f1cdc4c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e0b50386724f50" /><Relationship Type="http://schemas.openxmlformats.org/officeDocument/2006/relationships/notesMaster" Target="/ppt/notesMasters/notesMaster1.xml" Id="R62f1b82c1417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d381bd0964e5d" /><Relationship Type="http://schemas.openxmlformats.org/officeDocument/2006/relationships/notesMaster" Target="/ppt/notesMasters/notesMaster1.xml" Id="R08e09a7160ed48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5f0e7cff5c43dc" /><Relationship Type="http://schemas.openxmlformats.org/officeDocument/2006/relationships/notesMaster" Target="/ppt/notesMasters/notesMaster1.xml" Id="R8e49439e7ad6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668fc400d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42d8d2aafc4ed9" /><Relationship Type="http://schemas.openxmlformats.org/officeDocument/2006/relationships/slideLayout" Target="/ppt/slideLayouts/slideLayout1.xml" Id="Re62755434e02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755434e02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57f0138cb4cf3" /><Relationship Type="http://schemas.openxmlformats.org/officeDocument/2006/relationships/notesSlide" Target="/ppt/notesSlides/notesSlide1.xml" Id="R5544fbfd011c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d78f9b7544895" /><Relationship Type="http://schemas.openxmlformats.org/officeDocument/2006/relationships/notesSlide" Target="/ppt/notesSlides/notesSlide2.xml" Id="R1641b7e34fe8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a60aee73d40f4" /><Relationship Type="http://schemas.openxmlformats.org/officeDocument/2006/relationships/notesSlide" Target="/ppt/notesSlides/notesSlide3.xml" Id="R869e9bba183b4d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f2f25b2a14717" /><Relationship Type="http://schemas.openxmlformats.org/officeDocument/2006/relationships/notesSlide" Target="/ppt/notesSlides/notesSlide4.xml" Id="R577acce7b95647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ef12a887a4099" /><Relationship Type="http://schemas.openxmlformats.org/officeDocument/2006/relationships/notesSlide" Target="/ppt/notesSlides/notesSlide5.xml" Id="R52f8b54c4512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03e6e5cd0431d" /><Relationship Type="http://schemas.openxmlformats.org/officeDocument/2006/relationships/notesSlide" Target="/ppt/notesSlides/notesSlide6.xml" Id="R5d98a931a30847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6b9ced9f94aa5" /><Relationship Type="http://schemas.openxmlformats.org/officeDocument/2006/relationships/notesSlide" Target="/ppt/notesSlides/notesSlide7.xml" Id="R2082da86a2de49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81cc03e354807" /><Relationship Type="http://schemas.openxmlformats.org/officeDocument/2006/relationships/chart" Target="/ppt/slides/charts/chart1.xml" Id="R45d22e58c93c47e7" /><Relationship Type="http://schemas.openxmlformats.org/officeDocument/2006/relationships/notesSlide" Target="/ppt/notesSlides/notesSlide8.xml" Id="R4a93fdd88097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9096b7b304e7a" /><Relationship Type="http://schemas.openxmlformats.org/officeDocument/2006/relationships/notesSlide" Target="/ppt/notesSlides/notesSlide9.xml" Id="Rd6b6ca3894d242a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Monthly volunteer hours</a:t>
            </a:r>
          </a:p>
        </c:rich>
      </c:tx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3F8344"/>
            </a:solidFill>
          </c:spPr>
          <c:dLbls/>
          <c:cat>
            <c:strLit>
              <c:ptCount val="12"/>
              <c:pt idx="0">
                <c:v>Sep</c:v>
              </c:pt>
              <c:pt idx="1">
                <c:v>Oct</c:v>
              </c:pt>
              <c:pt idx="2">
                <c:v>Nov</c:v>
              </c:pt>
              <c:pt idx="3">
                <c:v>Dec</c:v>
              </c:pt>
              <c:pt idx="4">
                <c:v>Jan</c:v>
              </c:pt>
              <c:pt idx="5">
                <c:v>Feb</c:v>
              </c:pt>
              <c:pt idx="6">
                <c:v>Mar</c:v>
              </c:pt>
              <c:pt idx="7">
                <c:v>Apr</c:v>
              </c:pt>
              <c:pt idx="8">
                <c:v>May</c:v>
              </c:pt>
              <c:pt idx="9">
                <c:v>Jun</c:v>
              </c:pt>
              <c:pt idx="10">
                <c:v>Jul</c:v>
              </c:pt>
              <c:pt idx="11">
                <c:v>Aug</c:v>
              </c:pt>
            </c:strLit>
          </c:cat>
          <c:val>
            <c:numLit>
              <c:formatCode>0</c:formatCode>
              <c:ptCount val="12"/>
              <c:pt idx="0">
                <c:v>3</c:v>
              </c:pt>
              <c:pt idx="1">
                <c:v>5</c:v>
              </c:pt>
              <c:pt idx="2">
                <c:v>4</c:v>
              </c:pt>
              <c:pt idx="3">
                <c:v>2</c:v>
              </c:pt>
              <c:pt idx="4">
                <c:v>6</c:v>
              </c:pt>
              <c:pt idx="5">
                <c:v>7</c:v>
              </c:pt>
              <c:pt idx="6">
                <c:v>8</c:v>
              </c:pt>
              <c:pt idx="7">
                <c:v>5</c:v>
              </c:pt>
              <c:pt idx="8">
                <c:v>9</c:v>
              </c:pt>
              <c:pt idx="9">
                <c:v>10</c:v>
              </c:pt>
              <c:pt idx="10">
                <c:v>12</c:v>
              </c:pt>
              <c:pt idx="11">
                <c:v>14</c:v>
              </c:pt>
            </c:numLit>
          </c:val>
        </c:ser>
        <c:ser>
          <c:idx val="1"/>
          <c:order val="1"/>
          <c:tx>
            <c:v>Goal pace</c:v>
          </c:tx>
          <c:spPr>
            <a:solidFill xmlns:a="http://schemas.openxmlformats.org/drawingml/2006/main">
              <a:srgbClr val="B8955D"/>
            </a:solidFill>
          </c:spPr>
          <c:dLbls/>
          <c:cat>
            <c:strLit>
              <c:ptCount val="12"/>
              <c:pt idx="0">
                <c:v>Sep</c:v>
              </c:pt>
              <c:pt idx="1">
                <c:v>Oct</c:v>
              </c:pt>
              <c:pt idx="2">
                <c:v>Nov</c:v>
              </c:pt>
              <c:pt idx="3">
                <c:v>Dec</c:v>
              </c:pt>
              <c:pt idx="4">
                <c:v>Jan</c:v>
              </c:pt>
              <c:pt idx="5">
                <c:v>Feb</c:v>
              </c:pt>
              <c:pt idx="6">
                <c:v>Mar</c:v>
              </c:pt>
              <c:pt idx="7">
                <c:v>Apr</c:v>
              </c:pt>
              <c:pt idx="8">
                <c:v>May</c:v>
              </c:pt>
              <c:pt idx="9">
                <c:v>Jun</c:v>
              </c:pt>
              <c:pt idx="10">
                <c:v>Jul</c:v>
              </c:pt>
              <c:pt idx="11">
                <c:v>Aug</c:v>
              </c:pt>
            </c:strLit>
          </c:cat>
          <c:val>
            <c:numLit>
              <c:formatCode>0</c:formatCode>
              <c:ptCount val="12"/>
              <c:pt idx="0">
                <c:v>8</c:v>
              </c:pt>
              <c:pt idx="1">
                <c:v>8</c:v>
              </c:pt>
              <c:pt idx="2">
                <c:v>8</c:v>
              </c:pt>
              <c:pt idx="3">
                <c:v>8</c:v>
              </c:pt>
              <c:pt idx="4">
                <c:v>8</c:v>
              </c:pt>
              <c:pt idx="5">
                <c:v>8</c:v>
              </c:pt>
              <c:pt idx="6">
                <c:v>8</c:v>
              </c:pt>
              <c:pt idx="7">
                <c:v>8</c:v>
              </c:pt>
              <c:pt idx="8">
                <c:v>8</c:v>
              </c:pt>
              <c:pt idx="9">
                <c:v>8</c:v>
              </c:pt>
              <c:pt idx="10">
                <c:v>8</c:v>
              </c:pt>
              <c:pt idx="11">
                <c:v>8</c:v>
              </c:pt>
            </c:numLit>
          </c:val>
        </c:ser>
        <c:dLbls>
          <c:showVal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FD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AF7F2"/>
        </a:solidFill>
      </c:spPr>
    </c:plotArea>
    <c:legend>
      <c:legendPos val="b"/>
      <c:overlay val="0"/>
    </c:legend>
    <c:plotVisOnly val="1"/>
  </c:chart>
  <c:spPr>
    <a:ln xmlns:a="http://schemas.openxmlformats.org/drawingml/2006/main" w="9525">
      <a:solidFill>
        <a:srgbClr val="E5DFD1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E2EDDB07-9375-449C-8268-BC88EBE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4738AF9-30FE-4D5B-9560-64A9F272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B71D562-F9E9-45FE-83EB-26AF018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6FAD5440-2012-4CBC-B67D-7F70D6D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4D366DC-645E-4E71-BAF2-DAD801F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01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CB922-EEA8-4065-B9C4-339A786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524000"/>
            <a:ext cx="685800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B1E7-872C-4CCA-808B-3963399F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FA39E-B5D6-4C73-9B98-C55A7AC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4400"/>
            <a:ext cx="8001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C5D07-3C33-44D2-BAEB-D09744B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44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AB174-E100-4AD8-B6BF-1A398DAD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6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41D7-8D64-4712-8CF4-5B022A5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A5A4D"/>
                </a:solidFill>
                <a:latin typeface="Inter"/>
                <a:ea typeface="Inter"/>
                <a:cs typeface="Inter"/>
              </a:rPr>
              <a:t>A calm, focused way to log volunteer hours and tell the story of your 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B3707-A086-41A1-B21C-24548828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3D3B7-21BC-4CDB-987D-66069206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FOR</a:t>
            </a:r>
          </a:p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Students, clubs, schools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2E465-4F80-4CF8-ABCB-90B252D5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959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STACK</a:t>
            </a:r>
          </a:p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React + Express + Postgres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4FB0-7F83-45F2-A492-69076B20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LIVE</a:t>
            </a:r>
          </a:p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hriday21223.github.io/VolunteerTrack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1B27F-E5F7-4857-979E-26ACABC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38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52400">
            <a:solidFill>
              <a:srgbClr val="3F83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2B23C-93D3-4164-A8D1-C12844C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42 of 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76C81-5BB2-4066-AD95-621D012B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4A5A4D"/>
                </a:solidFill>
                <a:latin typeface="Inter"/>
                <a:ea typeface="Inter"/>
                <a:cs typeface="Inter"/>
              </a:rPr>
              <a:t>Goal progress this month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D9732-5EB4-40AB-B869-26BD1D5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1428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2BDB3-041F-4A27-A5A3-3696D3A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4489B-CE88-48F8-8633-761E826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auto-earning badges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70280-A1EB-4FB5-9D28-E7A7963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1428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1C072-4164-4937-875A-E1121FCA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A3EEB-0D44-4F80-8332-870147D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service categories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26079-91EA-4F9F-A4C2-89B100A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29100"/>
            <a:ext cx="1428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51C7D-C339-48E3-9542-EACA218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PDF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EB71A-EF67-4A34-8A68-A155E10C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48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+ CSV reports</a:t>
            </a:r>
          </a:p>
        </p:txBody>
      </p:sp>
    </p:spTree>
    <p:extLst>
      <p:ext uri="{BB962C8B-B14F-4D97-AF65-F5344CB8AC3E}">
        <p14:creationId xmlns:p14="http://schemas.microsoft.com/office/powerpoint/2010/main" val="507255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2233A3B-09F1-4AE8-B8E5-13FB665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069077-13B1-4DB1-9373-105CF0AD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9873293-69D2-481D-9441-E43CB19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25D6B531-1A52-4E38-9CC2-9E25E28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11B3419-E38B-4B3F-9FC7-07041E0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02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B3038C3-B15F-4360-9FE2-44B547D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WHY VOLUNTRACK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B84D8-6D2E-4124-B470-E5E7D906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1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Hours pile up. The story gets lost.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2B55E-70A9-4D56-AF3F-1367B83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4A5A4D"/>
                </a:solidFill>
                <a:latin typeface="Inter"/>
                <a:ea typeface="Inter"/>
                <a:cs typeface="Inter"/>
              </a:rPr>
              <a:t>Students, clubs, and schools track service in spreadsheets, group chats, and lost paper forms. Reporting at the end of the year is a scramble, not a 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68FEC-A387-4BA3-B357-84824BA8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3F032-10B1-426A-B3C6-DC30AEA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6A6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C76A6A"/>
                </a:solidFill>
                <a:latin typeface="Plus Jakarta Sans"/>
                <a:ea typeface="Plus Jakarta Sans"/>
                <a:cs typeface="Plus Jakarta Sans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57163-59EB-4891-9134-370ECAC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Notes, screenshots, scattered sheets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51F91-202A-44FC-8E57-91EA7B1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A5A4D"/>
                </a:solidFill>
                <a:latin typeface="Inter"/>
                <a:ea typeface="Inter"/>
                <a:cs typeface="Inter"/>
              </a:rPr>
              <a:t>x  Hours live in five different places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26957-9D0D-49C4-8C5B-4635F927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A5A4D"/>
                </a:solidFill>
                <a:latin typeface="Inter"/>
                <a:ea typeface="Inter"/>
                <a:cs typeface="Inter"/>
              </a:rPr>
              <a:t>x  No proof when a counselor asks for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F529B-2268-4CCE-9DE0-3562863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A5A4D"/>
                </a:solidFill>
                <a:latin typeface="Inter"/>
                <a:ea typeface="Inter"/>
                <a:cs typeface="Inter"/>
              </a:rPr>
              <a:t>x  Easy to forget weeks of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DD29B-811A-4A7D-AF2B-9419D91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A5A4D"/>
                </a:solidFill>
                <a:latin typeface="Inter"/>
                <a:ea typeface="Inter"/>
                <a:cs typeface="Inter"/>
              </a:rPr>
              <a:t>x  Year-end report takes a whole weekend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D34FE-8E0F-4632-B492-9D130E1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143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14327"/>
          </a:solidFill>
          <a:ln xmlns:a="http://schemas.openxmlformats.org/drawingml/2006/main" w="0">
            <a:solidFill>
              <a:srgbClr val="2143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6C020-603D-44D3-A8A8-9D5F6AA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WITH VOLUNTRACK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44F09-9960-4D71-B190-9EF04F9E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One home for every hour of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FF173-F4C7-447C-A36F-B3E441F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DCEEDC"/>
                </a:solidFill>
                <a:latin typeface="Inter"/>
                <a:ea typeface="Inter"/>
                <a:cs typeface="Inter"/>
              </a:rPr>
              <a:t>v  Single dashboard for logs, goals, badges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E1846-29FC-4960-BCAA-609E3E58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DCEEDC"/>
                </a:solidFill>
                <a:latin typeface="Inter"/>
                <a:ea typeface="Inter"/>
                <a:cs typeface="Inter"/>
              </a:rPr>
              <a:t>v  PDF + CSV export ready for any reviewer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D9581-D92C-4125-B60E-252E5BC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DCEEDC"/>
                </a:solidFill>
                <a:latin typeface="Inter"/>
                <a:ea typeface="Inter"/>
                <a:cs typeface="Inter"/>
              </a:rPr>
              <a:t>v  Reminders keep streaks alive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D5BAD-E0BC-4962-8CBA-9C8A747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DCEEDC"/>
                </a:solidFill>
                <a:latin typeface="Inter"/>
                <a:ea typeface="Inter"/>
                <a:cs typeface="Inter"/>
              </a:rPr>
              <a:t>v  Optional cloud sync across devices</a:t>
            </a:r>
          </a:p>
        </p:txBody>
      </p:sp>
    </p:spTree>
    <p:extLst>
      <p:ext uri="{BB962C8B-B14F-4D97-AF65-F5344CB8AC3E}">
        <p14:creationId xmlns:p14="http://schemas.microsoft.com/office/powerpoint/2010/main" val="1623485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4CB5BB8B-1556-4710-AAD8-9ED8FD9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BB22AF-1541-4E9B-9A58-BDB330FC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9E02FF60-41F8-486A-AE20-CDB88CA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DB9994A9-FECB-4BD6-83D7-328A3C99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5CA6F5-7B48-4230-81E2-9D7E54E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03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0F8BC52-A9F6-4495-944D-7DF282B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0F668-7832-4BEF-872F-39CC60A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Five surfaces that turn hours into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56D77-ADFB-4323-96C7-D39232C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9812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35F16-FE3E-4C20-A5BA-357B9B1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D4A4A-04E8-473A-A775-8D724C01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EC030-C4E3-4F67-ABCC-E95A54DB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0BA6B-5AD1-4E8E-A7EF-6EE75786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600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Total, this month, goal ring, weekly chart, and the latest logs on one screen.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42DEE-F672-4A2E-9057-B404DC3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19250"/>
            <a:ext cx="19812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A4E6B-5778-4AAF-8BB6-E00D1A8D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28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D0F76-13C9-4756-B1EA-5ACF2D8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Log Hours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4D58B-BCB2-40DE-A551-592D1EDF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AF3CC-3F6B-4EF4-88D9-40EE7A4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600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Activity, category, time, location, supervisor, optional proof, and verification.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DC8C0-D10F-46D6-91E3-09255D7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9812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79CFB-36C3-48D7-9B34-F84BCAE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BA4FB-3370-41A8-940F-1A43F2EC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325A1-5C68-4BE5-8EF5-AF6EDAE5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C3FEF-168F-4FC1-A11C-783D40D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600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Month view with session dots so streaks and gaps are obvious at a glance.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7EE45-D2BF-4337-892C-3EC81C7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19812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C1043-9413-4807-B552-658D8C2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28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EAF49-0BEA-45D9-B133-7575E3A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Achievements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C2102-6936-4E6C-86DF-2F73C65E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A86A0-964E-409A-816F-EA3A863A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57500"/>
            <a:ext cx="1600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Twelve badges earned automatically for streaks, variety, and milestone hours.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0C5AA-8625-477A-82DB-014D0FF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19250"/>
            <a:ext cx="19812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F3B78-3BA4-44DB-8FA6-C5AD5D2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19877-5897-4E72-A275-0DF7157F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Reports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96257-2F18-4D53-BE6F-4F47768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C125B-30A2-45CF-A0F2-71D81EE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6002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Branded PDF volunteer log, CSV export, and a printable certificate template.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FF4EA7-2B1F-4C79-A5E5-A7BAECF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CEEDC"/>
          </a:solidFill>
          <a:ln xmlns:a="http://schemas.openxmlformats.org/drawingml/2006/main" w="0">
            <a:solidFill>
              <a:srgbClr val="DCEE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9133A-1F09-4FF7-A008-485F0B20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1432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214327"/>
                </a:solidFill>
                <a:latin typeface="Inter"/>
                <a:ea typeface="Inter"/>
                <a:cs typeface="Inter"/>
              </a:rPr>
              <a:t>All five surfaces are wired to the same local-first data layer, so changes show up everywhere in under a second.</a:t>
            </a:r>
          </a:p>
        </p:txBody>
      </p:sp>
    </p:spTree>
    <p:extLst>
      <p:ext uri="{BB962C8B-B14F-4D97-AF65-F5344CB8AC3E}">
        <p14:creationId xmlns:p14="http://schemas.microsoft.com/office/powerpoint/2010/main" val="72956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70C3927-E598-46EE-8192-2D835D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B6FFA26-1671-4C26-93C9-3737FAB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F1671F4D-6ECC-4D86-A60F-B036303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59883E91-F283-430C-A8C9-539D61C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8447748-99F2-42C3-B06F-B207279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04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6260E5F-1831-4033-8EAC-30C006E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DD46C-08CB-47F3-B601-BD05169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From a Saturday cleanup to a signed PDF.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D4753-6964-4F67-84AE-579FA25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CBE34-CB60-43F5-A785-A3147BE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15EF1-B77C-43D7-AEED-E4076281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3FDAE-1CBB-4B7D-AEC3-898688E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A9B9E-92EC-4B2A-ACA7-F3F5360F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Drop in the activity, category, time window, location, and supervisor.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72CFD-13E6-480A-B450-7FEAB43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955D"/>
          </a:solidFill>
          <a:ln xmlns:a="http://schemas.openxmlformats.org/drawingml/2006/main" w="0">
            <a:solidFill>
              <a:srgbClr val="B895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73942-3CDE-4966-9F5E-3A21B6C9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C4AC5-A015-464C-9E6D-4298616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5DFD1-7396-411E-8872-3BB0F82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AFCFC-065C-401E-8AEF-CE213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Attach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3C2C8-1CBD-4C6B-8A84-9A0B41E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Drag in a photo, screenshot, or sign-in sheet as proof, with optional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65E4A-E39C-40E7-AB1D-7BB9385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955D"/>
          </a:solidFill>
          <a:ln xmlns:a="http://schemas.openxmlformats.org/drawingml/2006/main" w="0">
            <a:solidFill>
              <a:srgbClr val="B895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A98E9-033F-4D28-A22D-4628CBBF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14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40220-6547-49D6-82AF-B91AE82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F73E9-2BFD-4EAB-803A-9C5EB15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941AB-CA80-4308-AF4F-72C4C794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FEFE8-9188-4F00-B02C-99AC790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Save locally. Streaks, badges, and the goal ring update instantly.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74458-D034-42DB-9DF6-480162D1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955D"/>
          </a:solidFill>
          <a:ln xmlns:a="http://schemas.openxmlformats.org/drawingml/2006/main" w="0">
            <a:solidFill>
              <a:srgbClr val="B895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32B5F-DFF6-4544-B12E-59A2CC2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9DA19-8E86-4B1B-9CB4-6E2C63F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D6F02-C559-4391-81E9-AA85368C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56E53-8FAA-4E71-BD8D-48CF90F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Export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31E39E-F6DB-49AE-9343-191AE148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Pull a PDF volunteer log, CSV, or printable certificate in one click.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CA1AC0-141E-40B6-8D4A-0B35FDE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14327"/>
          </a:solidFill>
          <a:ln xmlns:a="http://schemas.openxmlformats.org/drawingml/2006/main" w="0">
            <a:solidFill>
              <a:srgbClr val="2143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B1D60-7100-4ABE-8486-5455C71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RECENT SESSION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2A670-CC4A-419F-8541-A827AC4A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rPr>
              <a:t>ACTIVITY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66C1E-F6C7-4E9B-9C10-248E04B9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Beach cleanup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8F8AAD-2846-45FE-A06C-34C8F852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rPr>
              <a:t>CATEGORY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2F5C01-98C1-4F95-9611-1BFE55F9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Environmental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25266D-26A5-4F50-933E-CDE2773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rPr>
              <a:t>HOURS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75BFFE-E5DE-4653-8F30-77FCC36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3.0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4E591-C556-4955-A6F7-74D0A40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rPr>
              <a:t>SUPERVISOR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9E6338-8470-4AFC-B4A6-13E70EB8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Carlos Diaz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38A363-4603-45EC-A2B2-F5653DC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DCEEDC"/>
                </a:solidFill>
                <a:latin typeface="Plus Jakarta Sans"/>
                <a:ea typeface="Plus Jakarta Sans"/>
                <a:cs typeface="Plus Jakarta Sans"/>
              </a:rPr>
              <a:t>VERIFIED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DA74D-BADC-469C-8432-CCACBCA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5E1E45-BD5D-4836-8C79-9C3C989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1050" i="1">
                <a:solidFill>
                  <a:srgbClr val="DCEEDC"/>
                </a:solidFill>
                <a:latin typeface="Inter"/>
                <a:ea typeface="Inter"/>
                <a:cs typeface="Inter"/>
              </a:rPr>
              <a:t>"Picked up 18 lbs of plastic and 6 bags of trash along the south cove."</a:t>
            </a:r>
          </a:p>
        </p:txBody>
      </p:sp>
    </p:spTree>
    <p:extLst>
      <p:ext uri="{BB962C8B-B14F-4D97-AF65-F5344CB8AC3E}">
        <p14:creationId xmlns:p14="http://schemas.microsoft.com/office/powerpoint/2010/main" val="1637435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7D273B2F-B737-4C31-8EE2-6FD12AD5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DC3B37-72FE-4C3F-9158-ECCE3D8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A370F1D-A11C-49DE-9A99-F07761CD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BDA65603-829E-4EC0-954E-2B75D0A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1C93567-CA39-4638-80C9-87D6193A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05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777F1A1-507A-4016-A88C-C758B97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BREADTH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0F67F-270A-4217-B0A8-74343C1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Eleven categories cover the way people actually serve.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65DE6-0B24-46F7-8AA1-CC0FFB1A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21EBC-A281-4EB1-8BEF-CACFCA0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9654F-C079-4082-9939-A7CABA60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Community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A9096-0A6E-418A-8DC6-A729AEED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78AE8-282A-4E92-BFFC-CC0F786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A9933-0109-41F2-8F2E-DF88B8FB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FA062"/>
          </a:solidFill>
          <a:ln xmlns:a="http://schemas.openxmlformats.org/drawingml/2006/main" w="0">
            <a:solidFill>
              <a:srgbClr val="5FA0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5A11C-D5B2-4DBB-9764-4E9D1BC5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050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Environmental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70044-A615-42D2-ABBB-1D2033D7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C83E9-BABB-4776-A86D-4DBB902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6C80D-8883-4B63-83A1-5E6EC0EC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BB7C9"/>
          </a:solidFill>
          <a:ln xmlns:a="http://schemas.openxmlformats.org/drawingml/2006/main" w="0">
            <a:solidFill>
              <a:srgbClr val="7BB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CAAE8-68C4-4172-85F3-C2E6C53E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Education &amp; Tutoring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7602B-5DDF-49DF-8F96-72570C5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89E45-49FF-4CB8-8291-CD468E3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69CB1-30AC-458E-B342-16A17F98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76A6A"/>
          </a:solidFill>
          <a:ln xmlns:a="http://schemas.openxmlformats.org/drawingml/2006/main" w="0">
            <a:solidFill>
              <a:srgbClr val="C76A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0FF94-D3EC-4DD5-948F-54E6C0F3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Health &amp; Wellness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BC5D9-97CE-42B5-B19D-EDD7EF2A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89827-2EB0-4AA2-8A37-420E557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D305B-5020-4FA7-B108-0366F28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89B4A"/>
          </a:solidFill>
          <a:ln xmlns:a="http://schemas.openxmlformats.org/drawingml/2006/main" w="0">
            <a:solidFill>
              <a:srgbClr val="D89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C1029-5C1A-41A2-9AB1-57EDFDA6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Animal Welfare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FBF3F-8F89-46E8-9F22-2C06FCE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1126D-EBB2-4B44-B8F8-DAA4751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4EC1C-F06A-4B68-A9CD-2DFB459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56BB3"/>
          </a:solidFill>
          <a:ln xmlns:a="http://schemas.openxmlformats.org/drawingml/2006/main" w="0">
            <a:solidFill>
              <a:srgbClr val="A56B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60E85-8031-4445-B5B4-A4EE8A0A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Arts &amp; Culture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595CE-9B21-4A84-80DD-6B78ED5A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B1D8A-E6AA-4109-946C-20C5EBF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3FBCC-617F-4A75-BD34-F12E0E2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F7BD3"/>
          </a:solidFill>
          <a:ln xmlns:a="http://schemas.openxmlformats.org/drawingml/2006/main" w="0">
            <a:solidFill>
              <a:srgbClr val="6F7B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4E6491-BA04-4B9D-B547-ED74F7F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Sports &amp; Coaching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4748A5-7980-448F-96F1-443510FE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DCC01E-02F7-4DC8-A32F-698D258B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C6F215-CECD-4CCB-BCB4-BA6237B6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6F3A"/>
          </a:solidFill>
          <a:ln xmlns:a="http://schemas.openxmlformats.org/drawingml/2006/main" w="0">
            <a:solidFill>
              <a:srgbClr val="8B6F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981154-FA2D-43D3-9AC1-0E3A14CA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Religious &amp; Faith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460F16-E636-4531-823D-5CFADBBC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385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E433F3-74D8-4B46-83E3-BAF9D727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4C6968-221C-4743-96D6-36EE741F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C6B73"/>
          </a:solidFill>
          <a:ln xmlns:a="http://schemas.openxmlformats.org/drawingml/2006/main" w="0">
            <a:solidFill>
              <a:srgbClr val="5C6B7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D1CB44-42D7-45A1-B0D4-2A44F6B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Political &amp; Advocacy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FD1371-B277-4608-8B4F-63082C05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09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E379D9-86DF-4089-94CC-2FE924CE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7F7466-14BF-43D6-820F-AC31431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8633A"/>
          </a:solidFill>
          <a:ln xmlns:a="http://schemas.openxmlformats.org/drawingml/2006/main" w="0">
            <a:solidFill>
              <a:srgbClr val="B863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E87AC5-795A-4F6F-94CC-157E2BF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00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Disaster Relief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497F8C-515D-40BE-A2B2-EBCB26E2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862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5772CD-A2DB-4737-8FFF-0D937A6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55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2CE165-F948-4772-B2F7-E1B29B92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A5A4D"/>
          </a:solidFill>
          <a:ln xmlns:a="http://schemas.openxmlformats.org/drawingml/2006/main" w="0">
            <a:solidFill>
              <a:srgbClr val="4A5A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E4CE7-4CEF-4766-9A8A-4B69072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Other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FBC992-0763-40EB-B7A5-C295F6E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65E8B7-BA02-45B5-98A9-82FE83C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 i="1">
                <a:solidFill>
                  <a:srgbClr val="4A5A4D"/>
                </a:solidFill>
                <a:latin typeface="Inter"/>
                <a:ea typeface="Inter"/>
                <a:cs typeface="Inter"/>
              </a:rPr>
              <a:t>Category Explorer and Category Master badges unlock at 3 and 5 distinct categories respectively.</a:t>
            </a:r>
          </a:p>
        </p:txBody>
      </p:sp>
    </p:spTree>
    <p:extLst>
      <p:ext uri="{BB962C8B-B14F-4D97-AF65-F5344CB8AC3E}">
        <p14:creationId xmlns:p14="http://schemas.microsoft.com/office/powerpoint/2010/main" val="493794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6AB6043-51D7-437E-8DC9-C7E83B54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8D4FEE-0A4B-4425-B375-55B78406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A040B27-FA2E-47DE-B0DB-77FD04C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0C8C5981-50EB-4931-B09F-655926B3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4D3174-1FFA-4962-862E-9F3752C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06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AF9084B-F2CD-4A00-B692-4A6E165F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98284-76F7-434E-B722-6C3A021C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Twelve badges that earn themselves as you serve.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1768C-D7E7-4294-B5F5-C885A22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A5A4D"/>
                </a:solidFill>
                <a:latin typeface="Inter"/>
                <a:ea typeface="Inter"/>
                <a:cs typeface="Inter"/>
              </a:rPr>
              <a:t>Every badge has a single, transparent rule. No mystery, no manual claiming.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75D81-8B25-407F-976E-EE9773A0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9DF93-54D6-4659-B8BF-22E93041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F6F02-2614-4119-BB07-8830BD3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First Volunteer Hour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F45A0-5BCB-493D-A51B-167307E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1 hour logged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DEB15-85FA-49EA-96DE-AABD2BE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79917-EDFA-42A8-826E-3BC0498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808C5-2EC0-475F-9490-3927A1B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3-Day Streak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FB1BF-C3D3-40BC-A6CE-25591333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3 distinct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CB575-A455-42DF-9869-D44A122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F4F14-695F-45C7-98FF-3AAFA1F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180C3-D580-4875-BB76-4B4BAA8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Week-Long Dedication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E35B9-246E-4800-9E0B-A1293AC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7 distinct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AD69C-0136-4C90-BB38-BBCD549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7AEDA-DF70-4B24-8FD3-6E26E77D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A9284-2251-49A6-80C1-507DB9F9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240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10 Hours Completed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8BA48-729E-4771-AE2B-AC1959B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10 total hours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00881-5530-4DAA-9E0C-5405399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54DA5-1522-4AFA-92BE-DA10F7C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E8730-77A0-4331-8DBD-024F04F3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50 Hours Completed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5A354-B945-46A1-A8F5-6D4034B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50 total hours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7EB1A-0191-48D8-9215-DAB5857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F3C05-E3CC-4C3D-BFA4-10DAB1B7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704238-B715-47D2-A176-FA6D1CF3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100 Hours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1B70F-FD43-4F7A-ABA9-62F1C4A7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100 total hours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ABC49-908C-49C2-B58F-787C66C4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8490C4-D965-4E40-A5C5-29FC1949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43F7A-0EBB-4AB9-B282-9A20BD3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Community Hero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3FFF0-B2F9-4A91-BA8A-5DE5DC9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Primary goal reached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83464A-23A2-44AB-86CB-A50FE67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307FB5-9C5C-4089-86D2-3A2C933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14806-CE3E-450E-AC16-A20AE52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Category Explorer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942BE3-3C85-442A-972C-E49FB71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3 distinct categories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9295F9-239B-4205-BE16-50B7D38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D6A350-71F9-4E36-855A-EBA0988F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08DF4E-95E2-490E-B9EF-FFFDC536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Category Master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1B7430-81B7-4956-808F-A4A3E5EC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5+ distinct categories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36F167-C736-4840-B6DF-1BA5E5C9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828161-7F66-48E6-9EA5-CE9291EC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C61EAB-20B2-4279-A7EA-81951AF3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38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Monthly Momentum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44550B-2C2D-412B-A1D2-DB849753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052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5+ hours in a month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F3F1BA-6DC6-488F-96FA-B531B3DE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F678C0-CB9A-4C5C-83E5-6A83AE36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4721BF-A933-407C-AA65-E347144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Weekend Warrior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E6BD1A-9A67-463A-BBE7-9229583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Any Sat or Sun log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7A6EC0-0158-4929-A768-D39F1C3F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552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53352B-E70A-4B5C-9369-AEF059D1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DC"/>
          </a:solidFill>
          <a:ln xmlns:a="http://schemas.openxmlformats.org/drawingml/2006/main" w="19050">
            <a:solidFill>
              <a:srgbClr val="3F834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B3D316-83E9-4C54-ADCB-EE6D640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Consistent Contributor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A80AE2-20D1-434B-9A46-197E3E05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2+ distinct months</a:t>
            </a:r>
          </a:p>
        </p:txBody>
      </p:sp>
    </p:spTree>
    <p:extLst>
      <p:ext uri="{BB962C8B-B14F-4D97-AF65-F5344CB8AC3E}">
        <p14:creationId xmlns:p14="http://schemas.microsoft.com/office/powerpoint/2010/main" val="1008085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8A436235-0BE1-4786-81B6-9DB00C5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69BD6B7-D810-41C5-BF5C-6CD6A65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E79D11F3-5787-4E07-ADDF-B979533D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92020A81-960E-45AB-8B8F-640BCDF4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0BDA7F-6128-4764-A21C-6DA4E58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07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C93C705-A887-4239-BE52-47BC1D99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DA0CC-78EC-4D66-A578-6F134F38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Local-first by default, with an optional cloud spine.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4DCED-06AB-4EC5-B829-D083B38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B56C-7251-415D-A93D-DB47553D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B1EAF-557A-4502-8B8D-A20E63B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React 18 + Vite + Tailwind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550FF-E880-4B3A-B913-7EBD22E8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C4B71-424C-476C-A04F-66C2FEF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71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React Router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70395-3AC3-4B6D-A3EE-99B5C4A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B6CCF-EC21-47F0-9F93-24C9ACC7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71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Custom DataProvider over localStorage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3CB58-358C-4CF9-AD25-7442A9C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3B165-840A-4F83-A40A-4B8E8E8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71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Hand-built bar + progress 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FA117-5C90-4BC4-85DF-423D4B7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Exports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60EC2-4542-4F29-9135-6CD6CB2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jsPDF + jspdf-autotable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7F3A-92C1-4D66-B051-2F333C1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Icons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30860-75D7-4526-98CA-1DB6CE9B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71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lucide-react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65093-315B-4EF2-8180-DB83442E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PWA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9C2BE-EF28-45CB-9C77-2B47F656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72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vite-plugin-pwa, installable on phones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3272E-7275-44FE-839F-1932B545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143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14327"/>
          </a:solidFill>
          <a:ln xmlns:a="http://schemas.openxmlformats.org/drawingml/2006/main" w="0">
            <a:solidFill>
              <a:srgbClr val="2143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FF827-9916-4082-8B32-D8E55F8E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SERVER (OPTIONAL)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9C2EA-0AAA-4328-A5A5-BBAD6ED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Express + Postgres + JWT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DFDE0-C3CC-41EE-B5D1-77FDF95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F171B-5A3F-4CD5-A306-D828C5BE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bcrypt hashing, JWT bearer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622BB-1554-462A-A329-C31C83B2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43B83-EB23-47FE-923C-D49C52F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Postgres, parameterized queries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680EA-FADA-4E8F-A399-42A346A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Roles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F2FB6-874F-41CB-A749-E8A9BE47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admin / school / student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DD8C0-C536-4D1A-A6E8-8E6BD5F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C4BBC7-507B-4523-AB2B-6BDB489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SMTP email or local codes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49111-8254-48C4-86A4-905D7F97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Limits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68F50-E764-49B1-94F0-6289747F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express-rate-limit on auth + email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5E4277-1CF2-4621-B6CE-E66CCDA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Hosting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7F649F-F4E4-4E67-8B6E-BF51C8B6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Render for API, Neon for Postgres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5233AD-AFF9-4230-B43A-3A202E11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1EAD9"/>
          </a:solidFill>
          <a:ln xmlns:a="http://schemas.openxmlformats.org/drawingml/2006/main" w="0">
            <a:solidFill>
              <a:srgbClr val="F1EA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7A019C-8ABA-42FF-9AEF-4FBC22C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975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Browser localStorage &lt;-&gt; React UI   ::   Express API &lt;-&gt; Postgres   ::   bcrypt + JWT for identity</a:t>
            </a:r>
          </a:p>
        </p:txBody>
      </p:sp>
    </p:spTree>
    <p:extLst>
      <p:ext uri="{BB962C8B-B14F-4D97-AF65-F5344CB8AC3E}">
        <p14:creationId xmlns:p14="http://schemas.microsoft.com/office/powerpoint/2010/main" val="1801339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6B3A665-1E5F-4D47-A2E8-DC8AE27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DA6C8E-7A29-4039-9762-5D8FD41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1"/>
          </a:solidFill>
          <a:ln xmlns:a="http://schemas.openxmlformats.org/drawingml/2006/main" w="0">
            <a:solidFill>
              <a:srgbClr val="E5DFD1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253576F-09C9-4075-94CE-75C16410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0A7CCD11-6BE4-46BC-B276-1BEC3DF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4A5A4D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7B1C0E-E6CF-4542-B1F4-32AA37E0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08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DA38774-576C-4F40-916C-E69342E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3F8344"/>
                </a:solidFill>
                <a:latin typeface="Plus Jakarta Sans"/>
                <a:ea typeface="Plus Jakarta Sans"/>
                <a:cs typeface="Plus Jakarta Sans"/>
              </a:rPr>
              <a:t>WHAT A YEAR LOOKS 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7D5A6-ECE3-41C1-B1D6-ABCE05B2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A realistic first year of consistent service.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d22e58c93c47e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A24EC-57D6-4122-BBC0-FC8385E1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32EFA-D3D0-460B-9E69-7C701968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C0BFD-3113-4B2A-83FF-CBB212E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Total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DDB2C-B584-4853-B06A-9C9B50F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+ 7 vs. last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D0A47-7EAD-498B-98DE-1CA7D59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342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542E5-9DE2-431E-8487-9A2D2DF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94286-62FA-42EC-8B0E-DF8BA1C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62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Months logged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D103E-FC05-4073-ACDA-3894322F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Aug 2024 - Jul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8987E-BA53-4648-BE09-4A701A5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342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284D8-F7D8-4E2A-8A64-E90F3B9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FD506-61DE-4039-9AD2-FEBE263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D26CD-B875-4C05-8A88-499400D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Most in Environmental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EDB11-6BDF-445B-8FAF-3D867AD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3429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F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A9EE6-7C43-4B51-ADAE-352ECF0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1">
                <a:solidFill>
                  <a:srgbClr val="214327"/>
                </a:solidFill>
                <a:latin typeface="Plus Jakarta Sans"/>
                <a:ea typeface="Plus Jakarta Sans"/>
                <a:cs typeface="Plus Jakarta Sans"/>
              </a:rPr>
              <a:t>12 of 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4BC16-A357-4705-9720-1E68230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Badges earned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8CCBC-18DB-4622-8C1A-E00A3A8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>
                <a:solidFill>
                  <a:srgbClr val="4A5A4D"/>
                </a:solidFill>
                <a:latin typeface="Inter"/>
                <a:ea typeface="Inter"/>
                <a:cs typeface="Inter"/>
              </a:rPr>
              <a:t>Community Hero included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D1B1F-7DBE-4DE6-8F0E-9FAC3A40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825" i="1">
                <a:solidFill>
                  <a:srgbClr val="4A5A4D"/>
                </a:solidFill>
                <a:latin typeface="Inter"/>
                <a:ea typeface="Inter"/>
                <a:cs typeface="Inter"/>
              </a:rPr>
              <a:t>Illustrative sample drawn from the in-app demo data set (see src/lib/demoData.js).</a:t>
            </a:r>
          </a:p>
        </p:txBody>
      </p:sp>
    </p:spTree>
    <p:extLst>
      <p:ext uri="{BB962C8B-B14F-4D97-AF65-F5344CB8AC3E}">
        <p14:creationId xmlns:p14="http://schemas.microsoft.com/office/powerpoint/2010/main" val="1819264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14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053A57E-9A9B-4D40-AF6C-28ED134C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3ABE8D1-A544-4DB4-9E08-4FA2D05A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40"/>
          </a:solidFill>
          <a:ln xmlns:a="http://schemas.openxmlformats.org/drawingml/2006/main" w="0">
            <a:solidFill>
              <a:srgbClr val="3A5A40"/>
            </a:solidFill>
            <a:prstDash val="solid"/>
          </a:ln>
        </p:spPr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25454551-9524-4B03-9D0E-8BBA704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825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VolunTrack</a:t>
            </a:r>
          </a:p>
        </p:txBody>
      </p:sp>
      <p:sp>
        <p:nvSpPr>
          <p:cNvPr id="4" name="footer-tag">
            <a:extLst xmlns:a="http://schemas.openxmlformats.org/drawingml/2006/main">
              <a:ext uri="{FF2B5EF4-FFF2-40B4-BE49-F238E27FC236}">
                <a16:creationId xmlns:a16="http://schemas.microsoft.com/office/drawing/2014/main" id="{D84C4159-8F93-4D7F-ADB7-8DEBA21F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DCEEDC"/>
                </a:solidFill>
                <a:latin typeface="Inter"/>
                <a:ea typeface="Inter"/>
                <a:cs typeface="Inter"/>
              </a:rPr>
              <a:t>Volunteer hour tracker for schools and communities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7CFD09-5AB8-4BE4-AFA6-B1EF72D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09 / 09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71A0B74-6286-4B6A-912A-AD1166F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75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WHAT'S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07EBD-70FC-4102-B43C-6E67419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4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Built for fast volunteering workflows. Ready for the next chapter.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AF9A-4E55-44DE-BB9E-B90AC786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429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7542D"/>
          </a:solidFill>
          <a:ln xmlns:a="http://schemas.openxmlformats.org/drawingml/2006/main" w="9525">
            <a:solidFill>
              <a:srgbClr val="3A5A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4662B-34F4-430B-A985-1F627C0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AA3D0-A75C-4391-8263-A7E460D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Shipped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50811-B91B-4051-971C-C39BC43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Local-first tracker, reports, badges, dark mode, and GitHub Pages deploy.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B904-7ACE-4305-935C-710A8D2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3429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7542D"/>
          </a:solidFill>
          <a:ln xmlns:a="http://schemas.openxmlformats.org/drawingml/2006/main" w="9525">
            <a:solidFill>
              <a:srgbClr val="3A5A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FC36A-C698-421B-8646-7D56180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485C3-179C-42A5-B446-7C8E5FC1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In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7E82-22E3-42EC-BFE4-F387E8C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Cross-device sync via PIN, Postgres account layer, school dashboards.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1951E-1C26-4DBD-B199-42DADDA0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5000"/>
            <a:ext cx="3429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7542D"/>
          </a:solidFill>
          <a:ln xmlns:a="http://schemas.openxmlformats.org/drawingml/2006/main" w="9525">
            <a:solidFill>
              <a:srgbClr val="3A5A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9E169-95CD-493F-AF95-D292951A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B8955D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EED1D-B928-4D55-8463-6B81F4B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FB2AA-5C55-4728-B945-A5BD447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EDC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DCEEDC"/>
                </a:solidFill>
                <a:latin typeface="Inter"/>
                <a:ea typeface="Inter"/>
                <a:cs typeface="Inter"/>
              </a:rPr>
              <a:t>District partnerships, certificate designer, native mobile build.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CA8DB-5E88-42A9-B3FE-0774F69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477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5B6E3-0DAE-4886-A75F-0F4ED49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1A2A1E"/>
                </a:solidFill>
                <a:latin typeface="Plus Jakarta Sans"/>
                <a:ea typeface="Plus Jakarta Sans"/>
                <a:cs typeface="Plus Jakarta Sans"/>
              </a:rPr>
              <a:t>Try the live demo or read the deeper doc.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52DC0-D51B-4CB3-834E-B4ADDAE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A5A4D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4A5A4D"/>
                </a:solidFill>
                <a:latin typeface="Inter"/>
                <a:ea typeface="Inter"/>
                <a:cs typeface="Inter"/>
              </a:rPr>
              <a:t>hriday21223.github.io/VolunteerTrack  ::  github.com/Hriday21223/VolunteerTrack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A0157-EAC0-4C70-9488-C9172EC0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6670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solidFill>
              <a:srgbClr val="3F83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E91E6-FAFC-4FF2-8D1A-FEFBF2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Open VolunTrack -&gt;</a:t>
            </a:r>
          </a:p>
        </p:txBody>
      </p:sp>
    </p:spTree>
    <p:extLst>
      <p:ext uri="{BB962C8B-B14F-4D97-AF65-F5344CB8AC3E}">
        <p14:creationId xmlns:p14="http://schemas.microsoft.com/office/powerpoint/2010/main" val="511797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2026-07-02T20:49:23.8420000Z</dcterms:created>
  <dcterms:modified xsi:type="dcterms:W3CDTF">2026-07-02T20:49:23.8430000Z</dcterms:modified>
</coreProperties>
</file>