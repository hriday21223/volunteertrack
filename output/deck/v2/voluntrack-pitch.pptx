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baec3f3aa4fa2" /><Relationship Type="http://schemas.openxmlformats.org/officeDocument/2006/relationships/extended-properties" Target="/docProps/app.xml" Id="Rc54911f21fac4a88" /><Relationship Type="http://schemas.openxmlformats.org/officeDocument/2006/relationships/officeDocument" Target="/ppt/presentation.xml" Id="Re034508bf051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830a3f7774b24"/>
  </p:sldMasterIdLst>
  <p:notesMasterIdLst>
    <p:notesMasterId xmlns:r="http://schemas.openxmlformats.org/officeDocument/2006/relationships" r:id="Rd565c027b40f4e49"/>
  </p:notesMasterIdLst>
  <p:sldIdLst>
    <p:sldId xmlns:r="http://schemas.openxmlformats.org/officeDocument/2006/relationships" id="256" r:id="R17f91f1f688343b0"/>
    <p:sldId xmlns:r="http://schemas.openxmlformats.org/officeDocument/2006/relationships" id="257" r:id="R4ba30451d2024f26"/>
    <p:sldId xmlns:r="http://schemas.openxmlformats.org/officeDocument/2006/relationships" id="258" r:id="Rd5767b64d59f4a01"/>
    <p:sldId xmlns:r="http://schemas.openxmlformats.org/officeDocument/2006/relationships" id="259" r:id="Re60055f94fe14ef7"/>
    <p:sldId xmlns:r="http://schemas.openxmlformats.org/officeDocument/2006/relationships" id="260" r:id="Rd2fb1d9c13d54260"/>
    <p:sldId xmlns:r="http://schemas.openxmlformats.org/officeDocument/2006/relationships" id="261" r:id="Re7e35746160e419e"/>
    <p:sldId xmlns:r="http://schemas.openxmlformats.org/officeDocument/2006/relationships" id="262" r:id="R56e65da0a12b4d79"/>
    <p:sldId xmlns:r="http://schemas.openxmlformats.org/officeDocument/2006/relationships" id="263" r:id="Rdfb8d72ffa14496c"/>
    <p:sldId xmlns:r="http://schemas.openxmlformats.org/officeDocument/2006/relationships" id="264" r:id="R409564a0aa374863"/>
    <p:sldId xmlns:r="http://schemas.openxmlformats.org/officeDocument/2006/relationships" id="265" r:id="R17a27dc4579a439a"/>
    <p:sldId xmlns:r="http://schemas.openxmlformats.org/officeDocument/2006/relationships" id="266" r:id="R8cafc2b6505f46e6"/>
    <p:sldId xmlns:r="http://schemas.openxmlformats.org/officeDocument/2006/relationships" id="267" r:id="R01dc218951704b8f"/>
    <p:sldId xmlns:r="http://schemas.openxmlformats.org/officeDocument/2006/relationships" id="268" r:id="R9385fe4f1c7b46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3bfad3086436b" /><Relationship Type="http://schemas.openxmlformats.org/officeDocument/2006/relationships/slideMaster" Target="/ppt/slideMasters/slideMaster1.xml" Id="R383830a3f7774b24" /><Relationship Type="http://schemas.openxmlformats.org/officeDocument/2006/relationships/notesMaster" Target="/ppt/notesMasters/notesMaster1.xml" Id="Rd565c027b40f4e49" /><Relationship Type="http://schemas.openxmlformats.org/officeDocument/2006/relationships/presProps" Target="/ppt/presProps.xml" Id="Recbc316496ea42eb" /><Relationship Type="http://schemas.openxmlformats.org/officeDocument/2006/relationships/tableStyles" Target="/ppt/tableStyles.xml" Id="Rfadd71ce3414451e" /><Relationship Type="http://schemas.openxmlformats.org/officeDocument/2006/relationships/slide" Target="/ppt/slides/slide1.xml" Id="R17f91f1f688343b0" /><Relationship Type="http://schemas.openxmlformats.org/officeDocument/2006/relationships/slide" Target="/ppt/slides/slide2.xml" Id="R4ba30451d2024f26" /><Relationship Type="http://schemas.openxmlformats.org/officeDocument/2006/relationships/slide" Target="/ppt/slides/slide3.xml" Id="Rd5767b64d59f4a01" /><Relationship Type="http://schemas.openxmlformats.org/officeDocument/2006/relationships/slide" Target="/ppt/slides/slide4.xml" Id="Re60055f94fe14ef7" /><Relationship Type="http://schemas.openxmlformats.org/officeDocument/2006/relationships/slide" Target="/ppt/slides/slide5.xml" Id="Rd2fb1d9c13d54260" /><Relationship Type="http://schemas.openxmlformats.org/officeDocument/2006/relationships/slide" Target="/ppt/slides/slide6.xml" Id="Re7e35746160e419e" /><Relationship Type="http://schemas.openxmlformats.org/officeDocument/2006/relationships/slide" Target="/ppt/slides/slide7.xml" Id="R56e65da0a12b4d79" /><Relationship Type="http://schemas.openxmlformats.org/officeDocument/2006/relationships/slide" Target="/ppt/slides/slide8.xml" Id="Rdfb8d72ffa14496c" /><Relationship Type="http://schemas.openxmlformats.org/officeDocument/2006/relationships/slide" Target="/ppt/slides/slide9.xml" Id="R409564a0aa374863" /><Relationship Type="http://schemas.openxmlformats.org/officeDocument/2006/relationships/slide" Target="/ppt/slides/slide10.xml" Id="R17a27dc4579a439a" /><Relationship Type="http://schemas.openxmlformats.org/officeDocument/2006/relationships/slide" Target="/ppt/slides/slide11.xml" Id="R8cafc2b6505f46e6" /><Relationship Type="http://schemas.openxmlformats.org/officeDocument/2006/relationships/slide" Target="/ppt/slides/slide12.xml" Id="R01dc218951704b8f" /><Relationship Type="http://schemas.openxmlformats.org/officeDocument/2006/relationships/slide" Target="/ppt/slides/slide13.xml" Id="R9385fe4f1c7b46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fa905b6024a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55cc13ded464e" /><Relationship Type="http://schemas.openxmlformats.org/officeDocument/2006/relationships/notesMaster" Target="/ppt/notesMasters/notesMaster1.xml" Id="R135a2b17ca954e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2a88e308de433e" /><Relationship Type="http://schemas.openxmlformats.org/officeDocument/2006/relationships/notesMaster" Target="/ppt/notesMasters/notesMaster1.xml" Id="R9d469e593c9048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abaaacbb1e4b73" /><Relationship Type="http://schemas.openxmlformats.org/officeDocument/2006/relationships/notesMaster" Target="/ppt/notesMasters/notesMaster1.xml" Id="R9fa925b4ac8d46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b60accf4f4a97" /><Relationship Type="http://schemas.openxmlformats.org/officeDocument/2006/relationships/notesMaster" Target="/ppt/notesMasters/notesMaster1.xml" Id="Ra8e4909bb86142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ddd186dc304edc" /><Relationship Type="http://schemas.openxmlformats.org/officeDocument/2006/relationships/notesMaster" Target="/ppt/notesMasters/notesMaster1.xml" Id="R8d7c3026dc6945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9937d740a4433" /><Relationship Type="http://schemas.openxmlformats.org/officeDocument/2006/relationships/notesMaster" Target="/ppt/notesMasters/notesMaster1.xml" Id="Rcc3020e3b67f48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651d76101a4151" /><Relationship Type="http://schemas.openxmlformats.org/officeDocument/2006/relationships/notesMaster" Target="/ppt/notesMasters/notesMaster1.xml" Id="R12b66ee026ed45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30f0a08f5a4518" /><Relationship Type="http://schemas.openxmlformats.org/officeDocument/2006/relationships/notesMaster" Target="/ppt/notesMasters/notesMaster1.xml" Id="R86a12718ef3e46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772425a6b94b5b" /><Relationship Type="http://schemas.openxmlformats.org/officeDocument/2006/relationships/notesMaster" Target="/ppt/notesMasters/notesMaster1.xml" Id="R02af9245f0c847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cf0148083c4e9c" /><Relationship Type="http://schemas.openxmlformats.org/officeDocument/2006/relationships/notesMaster" Target="/ppt/notesMasters/notesMaster1.xml" Id="R38091fa54f1049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71766550954cf5" /><Relationship Type="http://schemas.openxmlformats.org/officeDocument/2006/relationships/notesMaster" Target="/ppt/notesMasters/notesMaster1.xml" Id="R60331f8de36542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e3de89c44147ab" /><Relationship Type="http://schemas.openxmlformats.org/officeDocument/2006/relationships/notesMaster" Target="/ppt/notesMasters/notesMaster1.xml" Id="R059b1d0ec03d46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df374d425b4d70" /><Relationship Type="http://schemas.openxmlformats.org/officeDocument/2006/relationships/notesMaster" Target="/ppt/notesMasters/notesMaster1.xml" Id="Rb8829097fe1b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74525dfe4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c591e302d74feb" /><Relationship Type="http://schemas.openxmlformats.org/officeDocument/2006/relationships/slideLayout" Target="/ppt/slideLayouts/slideLayout1.xml" Id="R12d7544be8e54f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d7544be8e54f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62020d9bb4594" /><Relationship Type="http://schemas.openxmlformats.org/officeDocument/2006/relationships/image" Target="/ppt/media/image.png" Id="R6dc921e24d694e8d" /><Relationship Type="http://schemas.openxmlformats.org/officeDocument/2006/relationships/notesSlide" Target="/ppt/notesSlides/notesSlide1.xml" Id="R75986b24002444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0ea7dffb74b0e" /><Relationship Type="http://schemas.openxmlformats.org/officeDocument/2006/relationships/notesSlide" Target="/ppt/notesSlides/notesSlide2.xml" Id="Rc73a3e174e084f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c5a09cc664d23" /><Relationship Type="http://schemas.openxmlformats.org/officeDocument/2006/relationships/notesSlide" Target="/ppt/notesSlides/notesSlide3.xml" Id="R61d6d48879384d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28f9db2cf45de" /><Relationship Type="http://schemas.openxmlformats.org/officeDocument/2006/relationships/notesSlide" Target="/ppt/notesSlides/notesSlide4.xml" Id="R34ca26c97db647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ff55cddea455d" /><Relationship Type="http://schemas.openxmlformats.org/officeDocument/2006/relationships/notesSlide" Target="/ppt/notesSlides/notesSlide5.xml" Id="R4df722acce7546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0897dad24362" /><Relationship Type="http://schemas.openxmlformats.org/officeDocument/2006/relationships/notesSlide" Target="/ppt/notesSlides/notesSlide6.xml" Id="Ra6a7154f982343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cebb176814241" /><Relationship Type="http://schemas.openxmlformats.org/officeDocument/2006/relationships/notesSlide" Target="/ppt/notesSlides/notesSlide7.xml" Id="R312ca89824ea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92666318f45b6" /><Relationship Type="http://schemas.openxmlformats.org/officeDocument/2006/relationships/notesSlide" Target="/ppt/notesSlides/notesSlide8.xml" Id="R1e906b6eb4e443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38a0f70524ed6" /><Relationship Type="http://schemas.openxmlformats.org/officeDocument/2006/relationships/notesSlide" Target="/ppt/notesSlides/notesSlide9.xml" Id="R1965321d11424b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00920ea0b4f95" /><Relationship Type="http://schemas.openxmlformats.org/officeDocument/2006/relationships/notesSlide" Target="/ppt/notesSlides/notesSlide10.xml" Id="Ra3a32057c9d743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2555e2f8d4951" /><Relationship Type="http://schemas.openxmlformats.org/officeDocument/2006/relationships/notesSlide" Target="/ppt/notesSlides/notesSlide11.xml" Id="R2c1ab5372d7942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a742ba274e14" /><Relationship Type="http://schemas.openxmlformats.org/officeDocument/2006/relationships/notesSlide" Target="/ppt/notesSlides/notesSlide12.xml" Id="R9717379ad2944f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8c6707dbe4679" /><Relationship Type="http://schemas.openxmlformats.org/officeDocument/2006/relationships/notesSlide" Target="/ppt/notesSlides/notesSlide13.xml" Id="Rbde93c38b557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16989F-5E05-4595-95C0-644D6660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7923-AD6E-45C8-9A6E-353FBD6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254D6-F6C9-43FF-97B0-B411EC5A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7048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C0BEE-3118-4E47-BE19-3D5CE0E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382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090C3-0468-4903-A904-61CECB8F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715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D6858-74C8-4C26-A4AA-989D63D9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10490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4C4E4-DE9F-488C-94CC-E8402EAA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3429000" cy="342900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921e24d694e8d"/>
          <a:stretch xmlns:a="http://schemas.openxmlformats.org/drawingml/2006/main"/>
        </p:blipFill>
        <p:spPr>
          <a:xfrm xmlns:a="http://schemas.openxmlformats.org/drawingml/2006/main">
            <a:off x="762000" y="7620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4EA69-0F4D-4A80-8A69-5717E046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VOLUNTRACK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3B65B-6D00-44E8-8224-25EB5E6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5715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016"/>
                </a:solidFill>
              </a:defRPr>
            </a:pPr>
            <a:r>
              <a:rPr sz="4200" b="1">
                <a:solidFill>
                  <a:srgbClr val="102016"/>
                </a:solidFill>
              </a:rPr>
              <a:t>The volunteer hour</a:t>
            </a:r>
          </a:p>
          <a:p xmlns:a="http://schemas.openxmlformats.org/drawingml/2006/main">
            <a:pPr>
              <a:defRPr sz="4200" b="1">
                <a:solidFill>
                  <a:srgbClr val="102016"/>
                </a:solidFill>
              </a:defRPr>
            </a:pPr>
            <a:r>
              <a:rPr sz="4200" b="1">
                <a:solidFill>
                  <a:srgbClr val="102016"/>
                </a:solidFill>
              </a:rPr>
              <a:t>tracker students</a:t>
            </a:r>
          </a:p>
          <a:p xmlns:a="http://schemas.openxmlformats.org/drawingml/2006/main">
            <a:pPr>
              <a:defRPr sz="4200" b="1">
                <a:solidFill>
                  <a:srgbClr val="102016"/>
                </a:solidFill>
              </a:defRPr>
            </a:pPr>
            <a:r>
              <a:rPr sz="4200" b="1">
                <a:solidFill>
                  <a:srgbClr val="102016"/>
                </a:solidFill>
              </a:rPr>
              <a:t>actually keep open.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0C5A-B447-49E8-A88C-429AF021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715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502D"/>
                </a:solidFill>
              </a:defRPr>
            </a:pPr>
            <a:r>
              <a:rPr sz="1350">
                <a:solidFill>
                  <a:srgbClr val="6C502D"/>
                </a:solidFill>
              </a:rPr>
              <a:t>A privacy-first PWA for logging service hours, hitting goals, and exporting</a:t>
            </a:r>
          </a:p>
          <a:p xmlns:a="http://schemas.openxmlformats.org/drawingml/2006/main">
            <a:pPr>
              <a:defRPr sz="1350">
                <a:solidFill>
                  <a:srgbClr val="6C502D"/>
                </a:solidFill>
              </a:defRPr>
            </a:pPr>
            <a:r>
              <a:rPr sz="1350">
                <a:solidFill>
                  <a:srgbClr val="6C502D"/>
                </a:solidFill>
              </a:rPr>
              <a:t>reports that survive a college application. Built for students, schools, and clubs.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A248E-A313-4488-8DB8-7FEE51F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6C5D9-20F8-4267-AE91-1DE70E89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542D"/>
                </a:solidFill>
              </a:defRPr>
            </a:pPr>
            <a:r>
              <a:rPr sz="900" b="1">
                <a:solidFill>
                  <a:srgbClr val="27542D"/>
                </a:solidFill>
              </a:rPr>
              <a:t>React 18 + Vite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680FD-39B4-4349-B8A4-C0D665D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145542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7F569-F5B4-447B-9CFD-A2CAB596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145542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542D"/>
                </a:solidFill>
              </a:defRPr>
            </a:pPr>
            <a:r>
              <a:rPr sz="900" b="1">
                <a:solidFill>
                  <a:srgbClr val="27542D"/>
                </a:solidFill>
              </a:rPr>
              <a:t>PWA, offline-first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A80FA-6C7D-40C9-A2DC-716B4A0E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170" y="5334000"/>
            <a:ext cx="160020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344CE-6565-431A-ADE9-D669A8EE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170" y="5334000"/>
            <a:ext cx="1600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542D"/>
                </a:solidFill>
              </a:defRPr>
            </a:pPr>
            <a:r>
              <a:rPr sz="900" b="1">
                <a:solidFill>
                  <a:srgbClr val="27542D"/>
                </a:solidFill>
              </a:rPr>
              <a:t>localStorage private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191B9-56A6-4B95-88A3-671B072C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5334000"/>
            <a:ext cx="102108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92590-866D-4253-85FE-FD5CEBF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5334000"/>
            <a:ext cx="102108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542D"/>
                </a:solidFill>
              </a:defRPr>
            </a:pPr>
            <a:r>
              <a:rPr sz="900" b="1">
                <a:solidFill>
                  <a:srgbClr val="27542D"/>
                </a:solidFill>
              </a:rPr>
              <a:t>MIT licensed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97E7A-D4EE-4B1A-868A-677F992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525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FBF90"/>
                </a:solidFill>
              </a:defRPr>
            </a:pPr>
            <a:r>
              <a:rPr sz="900" b="1">
                <a:solidFill>
                  <a:srgbClr val="8FBF90"/>
                </a:solidFill>
              </a:rPr>
              <a:t>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6374E-DBA0-4D7D-B7F9-D0387BB9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4381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hriday21223.github.io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/VolunteerTrack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BF2FD-83BF-4C51-9F2E-72CA0396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4381500" cy="857250"/>
          </a:xfrm>
          <a:prstGeom xmlns:a="http://schemas.openxmlformats.org/drawingml/2006/main" prst="roundRect">
            <a:avLst>
              <a:gd name="adj" fmla="val 15556"/>
            </a:avLst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378038-BB82-4FE9-81EC-6A8FA0C5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B6359-AA96-4CCD-8BE9-5CC8C4E2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33700"/>
            <a:ext cx="276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auto-earning</a:t>
            </a:r>
          </a:p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badges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6E55C3-E74E-46F7-A426-DEA447F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4381500" cy="857250"/>
          </a:xfrm>
          <a:prstGeom xmlns:a="http://schemas.openxmlformats.org/drawingml/2006/main" prst="roundRect">
            <a:avLst>
              <a:gd name="adj" fmla="val 15556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01EBA-DE0A-4AE1-872F-A2E123C9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76675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PWA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C73DF-8EC1-4DF0-A9D7-1019247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33825"/>
            <a:ext cx="276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installs on</a:t>
            </a:r>
          </a:p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any device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19E1F-8253-4BA2-9363-3097AB6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4381500" cy="857250"/>
          </a:xfrm>
          <a:prstGeom xmlns:a="http://schemas.openxmlformats.org/drawingml/2006/main" prst="roundRect">
            <a:avLst>
              <a:gd name="adj" fmla="val 15556"/>
            </a:avLst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C63A13-7A92-46ED-8336-E5F9B020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114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7DB55D-E1D9-4BF1-94D1-1490A80A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2762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account server</a:t>
            </a:r>
          </a:p>
          <a:p xmlns:a="http://schemas.openxmlformats.org/drawingml/2006/main">
            <a:pPr>
              <a:defRPr sz="1200">
                <a:solidFill>
                  <a:srgbClr val="DCECDC"/>
                </a:solidFill>
              </a:defRPr>
            </a:pPr>
            <a:r>
              <a:rPr sz="1200">
                <a:solidFill>
                  <a:srgbClr val="DCECDC"/>
                </a:solidFill>
              </a:rPr>
              <a:t>needed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0E2FC-86C3-4F20-B824-D882DA8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Showcase + pitch · v2.0</a:t>
            </a:r>
          </a:p>
        </p:txBody>
      </p:sp>
    </p:spTree>
    <p:extLst>
      <p:ext uri="{BB962C8B-B14F-4D97-AF65-F5344CB8AC3E}">
        <p14:creationId xmlns:p14="http://schemas.microsoft.com/office/powerpoint/2010/main" val="2139520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84CBA4-7527-4209-BFD6-63F1F9CC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WHAT IT 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31D4-001B-436A-88B2-02C2A417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A real product, not a mockup.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1100C-80D2-4ACF-BA7F-030D9CE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A3F"/>
                </a:solidFill>
              </a:defRPr>
            </a:pPr>
            <a:r>
              <a:rPr sz="1350">
                <a:solidFill>
                  <a:srgbClr val="384A3F"/>
                </a:solidFill>
              </a:rPr>
              <a:t>VolunTrack is already live, already deployed, and already in use. It runs as an installable PWA, ships with a school/admin layer, and exports PDF reports a counselor will actually accept.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B9948-E0FE-4022-9F6E-181448C5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429000" cy="2286000"/>
          </a:xfrm>
          <a:prstGeom xmlns:a="http://schemas.openxmlformats.org/drawingml/2006/main" prst="roundRect">
            <a:avLst>
              <a:gd name="adj" fmla="val 8333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7135D-6CA5-491D-BC3A-DC7EC849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DC133-C01D-4AAE-9209-418D5DD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16"/>
                </a:solidFill>
              </a:defRPr>
            </a:pPr>
            <a:r>
              <a:rPr sz="2100" b="1">
                <a:solidFill>
                  <a:srgbClr val="102016"/>
                </a:solidFill>
              </a:rPr>
              <a:t>5 user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CFA32-A802-4974-81C5-25BF7044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304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Student, supervisor, school admin, district admin, and platform admin. Each gets the right surface — nothing more.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CC736-67B7-4AE3-84A2-B6F72CE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429000" cy="2286000"/>
          </a:xfrm>
          <a:prstGeom xmlns:a="http://schemas.openxmlformats.org/drawingml/2006/main" prst="roundRect">
            <a:avLst>
              <a:gd name="adj" fmla="val 8333"/>
            </a:avLst>
          </a:prstGeom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1ADF6-5B2F-4CE9-BD05-7B1A2FF9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4F527-29D2-410C-BF32-4F3F7BB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16"/>
                </a:solidFill>
              </a:defRPr>
            </a:pPr>
            <a:r>
              <a:rPr sz="2100" b="1">
                <a:solidFill>
                  <a:srgbClr val="102016"/>
                </a:solidFill>
              </a:rPr>
              <a:t>12 badges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6192F-0E91-4FD5-B823-F1F4246F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304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Auto-earning achievements turn consistency into something students can see, share, and feel good about.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13423-1C07-465B-B80C-035FD6AE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429000" cy="2286000"/>
          </a:xfrm>
          <a:prstGeom xmlns:a="http://schemas.openxmlformats.org/drawingml/2006/main" prst="roundRect">
            <a:avLst>
              <a:gd name="adj" fmla="val 8333"/>
            </a:avLst>
          </a:prstGeom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15620-AD0C-4E7A-99D0-BA1B4A8E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57150" cy="2286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3F9C4-196B-43D1-A43B-1883B3B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19400"/>
            <a:ext cx="304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016"/>
                </a:solidFill>
              </a:defRPr>
            </a:pPr>
            <a:r>
              <a:rPr sz="2100" b="1">
                <a:solidFill>
                  <a:srgbClr val="102016"/>
                </a:solidFill>
              </a:rPr>
              <a:t>PWA install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98531-0C80-4190-924F-9226FDAE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04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Installs on iOS, Android, Windows, macOS, and Linux. Works offline after the first visit. No app store gate.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B6813-BF27-4646-97AA-A3BC595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857250"/>
          </a:xfrm>
          <a:prstGeom xmlns:a="http://schemas.openxmlformats.org/drawingml/2006/main" prst="roundRect">
            <a:avLst>
              <a:gd name="adj" fmla="val 17778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84021-C4F4-4DC5-9696-DEDE0475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02D"/>
                </a:solidFill>
              </a:defRPr>
            </a:pPr>
            <a:r>
              <a:rPr sz="900" b="1">
                <a:solidFill>
                  <a:srgbClr val="6C502D"/>
                </a:solidFill>
              </a:rPr>
              <a:t>THE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DF569-05BF-45D8-A77A-C63F72BF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1028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016"/>
                </a:solidFill>
              </a:defRPr>
            </a:pPr>
            <a:r>
              <a:rPr sz="1275">
                <a:solidFill>
                  <a:srgbClr val="102016"/>
                </a:solidFill>
              </a:rPr>
              <a:t>Take the friction out of proving you showed up — and the data lives on the student's own device, not in someone else's system.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7BC6D-7C2A-4156-A776-2A7C1803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9E50A-5D3E-43DD-A5E3-2EBC50C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4562677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EC0D4-4DB2-473F-8322-B8006C2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THE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56CAD-EC73-4856-B78D-E95364EB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Five minutes from service hour to verified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C3767-27DE-41DC-BBC1-4079E349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905000" cy="3048000"/>
          </a:xfrm>
          <a:prstGeom xmlns:a="http://schemas.openxmlformats.org/drawingml/2006/main" prst="roundRect">
            <a:avLst>
              <a:gd name="adj" fmla="val 9000"/>
            </a:avLst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D3425-3325-49EC-9BA6-7ABB645C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25FE2-31C6-4CEE-BD41-CA933C97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E3CFA-7F36-48B4-A3A9-D363F509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16"/>
                </a:solidFill>
              </a:defRPr>
            </a:pPr>
            <a:r>
              <a:rPr sz="1650" b="1">
                <a:solidFill>
                  <a:srgbClr val="102016"/>
                </a:solidFill>
              </a:rPr>
              <a:t>Log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306C9-7389-4734-A799-840B6261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447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Activity, hours, supervisor, notes — and a photo of proof — in one 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A51CB-3848-480D-B13D-68E7E6B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52700"/>
            <a:ext cx="133350" cy="133350"/>
          </a:xfrm>
          <a:prstGeom xmlns:a="http://schemas.openxmlformats.org/drawingml/2006/main" prst="rightArrow">
            <a:avLst/>
          </a:prstGeom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1D06E-F4EE-453D-ACF5-A56B4CB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1905000" cy="3048000"/>
          </a:xfrm>
          <a:prstGeom xmlns:a="http://schemas.openxmlformats.org/drawingml/2006/main" prst="roundRect">
            <a:avLst>
              <a:gd name="adj" fmla="val 9000"/>
            </a:avLst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0AF5D-696C-46AD-BDDF-33B0F2A9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B0512-EAA1-4587-A341-D5A4776E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1935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2E4A1-DDB5-4C72-9BE3-1C8381C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16"/>
                </a:solidFill>
              </a:defRPr>
            </a:pPr>
            <a:r>
              <a:rPr sz="1650" b="1">
                <a:solidFill>
                  <a:srgbClr val="102016"/>
                </a:solidFill>
              </a:rPr>
              <a:t>Track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EEA48-BCD8-4259-AB67-4BA34DA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00450"/>
            <a:ext cx="1447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Progress ring, weekly chart, and 12 badges keep momentum visible.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88213-C702-40BA-94DB-71641ABB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52700"/>
            <a:ext cx="133350" cy="133350"/>
          </a:xfrm>
          <a:prstGeom xmlns:a="http://schemas.openxmlformats.org/drawingml/2006/main" prst="rightArrow">
            <a:avLst/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24BAEA-A470-41D8-AB02-6C65E48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1905000" cy="3048000"/>
          </a:xfrm>
          <a:prstGeom xmlns:a="http://schemas.openxmlformats.org/drawingml/2006/main" prst="roundRect">
            <a:avLst>
              <a:gd name="adj" fmla="val 9000"/>
            </a:avLst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6636E-97BA-4A0C-9F2A-141DBF2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21031-3F3D-433B-878A-F65FB141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1935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E781A-A429-40A9-BE31-6CA19BC9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16"/>
                </a:solidFill>
              </a:defRPr>
            </a:pPr>
            <a:r>
              <a:rPr sz="1650" b="1">
                <a:solidFill>
                  <a:srgbClr val="102016"/>
                </a:solidFill>
              </a:rPr>
              <a:t>Prove 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B0C45-6F29-4750-A6E1-4473CA59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0450"/>
            <a:ext cx="1447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PDF report, CSV export, or a printable certificate in one click.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B81CB-5E56-4AB6-84D7-CC3110F6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133350" cy="133350"/>
          </a:xfrm>
          <a:prstGeom xmlns:a="http://schemas.openxmlformats.org/drawingml/2006/main" prst="rightArrow">
            <a:avLst/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BCA9E-E740-490A-AD9A-DB7D3B2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1905000" cy="3048000"/>
          </a:xfrm>
          <a:prstGeom xmlns:a="http://schemas.openxmlformats.org/drawingml/2006/main" prst="roundRect">
            <a:avLst>
              <a:gd name="adj" fmla="val 9000"/>
            </a:avLst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94E5B-7A9E-4FB7-9898-EB89B4BE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7BDA4-5EA0-4013-9A92-D3D1904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85D48-B7CF-4BFD-966E-CEDAF53C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16"/>
                </a:solidFill>
              </a:defRPr>
            </a:pPr>
            <a:r>
              <a:rPr sz="1650" b="1">
                <a:solidFill>
                  <a:srgbClr val="102016"/>
                </a:solidFill>
              </a:rPr>
              <a:t>Verify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4BB4A-05B3-40B7-ACA8-5C5F3EBD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00450"/>
            <a:ext cx="1447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Optional school dashboard with PIN join, rosters, and PDF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26EB2-0F2F-4E6C-9683-F12CAB13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133350" cy="133350"/>
          </a:xfrm>
          <a:prstGeom xmlns:a="http://schemas.openxmlformats.org/drawingml/2006/main" prst="rightArrow">
            <a:avLst/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3892E-0C62-416D-A600-C0A1193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1905000" cy="3048000"/>
          </a:xfrm>
          <a:prstGeom xmlns:a="http://schemas.openxmlformats.org/drawingml/2006/main" prst="roundRect">
            <a:avLst>
              <a:gd name="adj" fmla="val 9000"/>
            </a:avLst>
          </a:prstGeom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6F7583-5784-4DD5-A3EF-4D179FA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F0A884-0222-418C-9100-E25007B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533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B8CAEE-49B4-443E-9663-20315D76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432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016"/>
                </a:solidFill>
              </a:defRPr>
            </a:pPr>
            <a:r>
              <a:rPr sz="1650" b="1">
                <a:solidFill>
                  <a:srgbClr val="102016"/>
                </a:solidFill>
              </a:rPr>
              <a:t>Own 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D83263-B981-44F8-8D91-F221FF18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447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Data stays in the student's browser. No account server, no data harvesting.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AF239E-6561-4463-90B4-6D15B74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6B7A70"/>
                </a:solidFill>
              </a:defRPr>
            </a:pPr>
            <a:r>
              <a:rPr sz="1200" i="1">
                <a:solidFill>
                  <a:srgbClr val="6B7A70"/>
                </a:solidFill>
              </a:rPr>
              <a:t>Every step fits on one screen. Every record stays portable. That's the whole product.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A0F574-A28F-4CB1-8573-CD8A264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CED50-2504-4F21-8978-95123E05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3</a:t>
            </a:r>
          </a:p>
        </p:txBody>
      </p:sp>
    </p:spTree>
    <p:extLst>
      <p:ext uri="{BB962C8B-B14F-4D97-AF65-F5344CB8AC3E}">
        <p14:creationId xmlns:p14="http://schemas.microsoft.com/office/powerpoint/2010/main" val="848069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A215B-2534-4597-8510-16591FF2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CDA92-E48D-4C97-A591-4C0EB65C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Calm UI, dense info, no clutter.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1DDB6-6999-45C7-AA96-B463E3A0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858000" cy="4000500"/>
          </a:xfrm>
          <a:prstGeom xmlns:a="http://schemas.openxmlformats.org/drawingml/2006/main" prst="roundRect">
            <a:avLst>
              <a:gd name="adj" fmla="val 4286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E7DDF-7F20-4B8C-82C7-CA01D66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6858000" cy="419100"/>
          </a:xfrm>
          <a:prstGeom xmlns:a="http://schemas.openxmlformats.org/drawingml/2006/main" prst="roundRect">
            <a:avLst>
              <a:gd name="adj" fmla="val 40909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A86EB-BB66-4355-8F26-8861BAD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6858000" cy="1714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A5139-B16D-4989-8945-A741212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voluntrack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22DAC5-0BCF-4745-9AAB-4B32AA91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CDABC"/>
                </a:solidFill>
              </a:defRPr>
            </a:pPr>
            <a:r>
              <a:rPr sz="1200">
                <a:solidFill>
                  <a:srgbClr val="BCDABC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11AFB-9B28-4475-8A4B-4D9A2C94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CDABC"/>
                </a:solidFill>
              </a:defRPr>
            </a:pPr>
            <a:r>
              <a:rPr sz="900">
                <a:solidFill>
                  <a:srgbClr val="BCDABC"/>
                </a:solidFill>
              </a:rPr>
              <a:t>Alex · Senior · Lincoln 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405E5-2447-435C-B1A2-A8D659E7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2095500" cy="1905000"/>
          </a:xfrm>
          <a:prstGeom xmlns:a="http://schemas.openxmlformats.org/drawingml/2006/main" prst="roundRect">
            <a:avLst>
              <a:gd name="adj" fmla="val 7000"/>
            </a:avLst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8DA3-01D7-4DC7-ACA9-740F38BD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TOTAL HOURS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7BFF5-0B5F-46E4-807F-26943D3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1714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6935"/>
                </a:solidFill>
              </a:defRPr>
            </a:pPr>
            <a:r>
              <a:rPr sz="4200" b="1">
                <a:solidFill>
                  <a:srgbClr val="2F6935"/>
                </a:solidFill>
              </a:rPr>
              <a:t>62.5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548B-5FA6-45B7-AAFB-9FA1E3C5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A70"/>
                </a:solidFill>
              </a:defRPr>
            </a:pPr>
            <a:r>
              <a:rPr sz="1050">
                <a:solidFill>
                  <a:srgbClr val="6B7A70"/>
                </a:solidFill>
              </a:rPr>
              <a:t>of 100 hour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9F311-E21D-4467-8B74-0C2F423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71450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DB348-AB97-4592-8F79-2F2501A5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06680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B4BC2-0CE5-4C68-90CC-92121FB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1905000" cy="904875"/>
          </a:xfrm>
          <a:prstGeom xmlns:a="http://schemas.openxmlformats.org/drawingml/2006/main" prst="roundRect">
            <a:avLst>
              <a:gd name="adj" fmla="val 14737"/>
            </a:avLst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854AED-23BB-4C4C-8FE0-C7F342F7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05100"/>
            <a:ext cx="1524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THIS MONTH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03B8C-B9A1-4B0E-B517-CAAD6197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152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6935"/>
                </a:solidFill>
              </a:defRPr>
            </a:pPr>
            <a:r>
              <a:rPr sz="2400" b="1">
                <a:solidFill>
                  <a:srgbClr val="2F6935"/>
                </a:solidFill>
              </a:rPr>
              <a:t>12.5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9A9B-D281-4CE2-A41A-A0916AB7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7660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B981"/>
                </a:solidFill>
              </a:defRPr>
            </a:pPr>
            <a:r>
              <a:rPr sz="900">
                <a:solidFill>
                  <a:srgbClr val="10B981"/>
                </a:solidFill>
              </a:rPr>
              <a:t>+3.5 vs last month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C71FB-A6AD-40B0-B51B-9FDB68F6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2095500" cy="904875"/>
          </a:xfrm>
          <a:prstGeom xmlns:a="http://schemas.openxmlformats.org/drawingml/2006/main" prst="roundRect">
            <a:avLst>
              <a:gd name="adj" fmla="val 14737"/>
            </a:avLst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B1747-78BF-4220-A87F-9ED0ECA9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0510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BADGES EARNED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04656-A8A5-48EC-A738-99D64115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76550"/>
            <a:ext cx="1714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F6935"/>
                </a:solidFill>
              </a:defRPr>
            </a:pPr>
            <a:r>
              <a:rPr sz="2400" b="1">
                <a:solidFill>
                  <a:srgbClr val="2F6935"/>
                </a:solidFill>
              </a:rPr>
              <a:t>7 / 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09192-F844-4D7E-92F2-CF2DE54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99D71-3F4E-4C25-814C-0593B0E4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A85B7-AEE3-4F9D-B9E1-FC2F5A2B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F1210-143F-4180-92A6-C40381E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86AF1-E47E-4AA6-A1AD-207C5598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98B873-5FA2-409D-967D-055FDBB1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3CCD8C-2492-4995-89AB-78CC97EF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8C1ED-DD46-4ACC-ADDA-68659854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B5FCA-A911-4D97-A491-F9E3A85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DC5DE6-C63B-4422-A3E0-B9B7725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414F79-7BBC-48BD-90E5-3E286154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9406B-4752-434D-B229-15B52C4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0FAE5F-F49B-4748-B7C1-277BF53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4152900" cy="857250"/>
          </a:xfrm>
          <a:prstGeom xmlns:a="http://schemas.openxmlformats.org/drawingml/2006/main" prst="roundRect">
            <a:avLst>
              <a:gd name="adj" fmla="val 15556"/>
            </a:avLst>
          </a:prstGeom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49B327-6FAA-4105-BE56-E3F02C4E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3810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RECENT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7EF38D-51DC-4EB0-B18D-009639D9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Food bank — 3.0h · Sat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9BB9E4-59B9-4741-871F-51051DC0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Park cleanup — 2.5h · Sun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DC512F-28E2-4495-9785-DC5129B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Tutoring — 1.5h · Wed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959AA7-576F-4557-A4BF-AE351DDC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6400800" cy="1047750"/>
          </a:xfrm>
          <a:prstGeom xmlns:a="http://schemas.openxmlformats.org/drawingml/2006/main" prst="roundRect">
            <a:avLst>
              <a:gd name="adj" fmla="val 12727"/>
            </a:avLst>
          </a:prstGeom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92895-758C-47C0-AC2F-40F8C9B6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THIS WEEK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F6A13C-2206-469F-91FE-88A76035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476250" cy="381000"/>
          </a:xfrm>
          <a:prstGeom xmlns:a="http://schemas.openxmlformats.org/drawingml/2006/main" prst="roundRect">
            <a:avLst>
              <a:gd name="adj" fmla="val 10000"/>
            </a:avLst>
          </a:prstGeom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0BE91C9-E290-4E6B-AE62-0CAA41A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476250" cy="66675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5058B0-2105-44B0-94B5-DA8E2CDD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476250" cy="285750"/>
          </a:xfrm>
          <a:prstGeom xmlns:a="http://schemas.openxmlformats.org/drawingml/2006/main" prst="roundRect">
            <a:avLst>
              <a:gd name="adj" fmla="val 13333"/>
            </a:avLst>
          </a:prstGeom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A30888-DD68-40A6-9DEE-3693408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476250" cy="85725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2B4D88-54D1-46B6-9F3D-1554E9F2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05375"/>
            <a:ext cx="476250" cy="523875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337A50-5848-4B72-8373-FF071C3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38750"/>
            <a:ext cx="476250" cy="190500"/>
          </a:xfrm>
          <a:prstGeom xmlns:a="http://schemas.openxmlformats.org/drawingml/2006/main" prst="roundRect">
            <a:avLst>
              <a:gd name="adj" fmla="val 20000"/>
            </a:avLst>
          </a:prstGeom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1003A1-F8D1-4989-891C-085EC5A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476250" cy="5715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0F40FE-3E8D-4DAE-8FA4-855E54F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41F8814-7C0C-4DF5-A5D7-FDFC841D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E7E2D1-F97C-432C-8219-9512160B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946438-9E48-4130-88DC-38695A35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4E19AE-EB4E-4BDC-B7BC-09E0569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32CA90-BBE5-49FE-9CF3-45AA6F2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3D5DA-6AA1-4BD1-A035-71BBBBF5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505450"/>
            <a:ext cx="4762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EEC8EF-A1AA-44BB-80E9-73C3EDE8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3524250" cy="1238250"/>
          </a:xfrm>
          <a:prstGeom xmlns:a="http://schemas.openxmlformats.org/drawingml/2006/main" prst="roundRect">
            <a:avLst>
              <a:gd name="adj" fmla="val 10769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4D91C4-1306-4266-8AE5-571BFE7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ONE SENTENCE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58C0EC-B88C-475A-8C2A-64AD318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AI hour logger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457319-301C-4037-BBDF-A18660AF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Type a sentence — the on-device agent drafts a full log entry. Confirm and you're done.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377A97-6BC6-4280-9631-732AF01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524250" cy="1238250"/>
          </a:xfrm>
          <a:prstGeom xmlns:a="http://schemas.openxmlformats.org/drawingml/2006/main" prst="roundRect">
            <a:avLst>
              <a:gd name="adj" fmla="val 10769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A671A4-ED53-4A32-BA48-E439ED8C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PROGRESS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746E7-FD0F-4759-81F1-0DAA192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Streaks + rings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2E516F-66D8-42C7-9509-3CB0597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Daily streak, weekly chart, and a progress ring toward the primary goal.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9637BF-562E-4123-B034-D8799274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0100"/>
            <a:ext cx="3524250" cy="1238250"/>
          </a:xfrm>
          <a:prstGeom xmlns:a="http://schemas.openxmlformats.org/drawingml/2006/main" prst="roundRect">
            <a:avLst>
              <a:gd name="adj" fmla="val 10769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161DF8-5A67-45FA-A75E-3D357C2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1905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PORTABLE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59310D-ABAD-4257-9E35-C4FD9E2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PDF + CSV export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082505-5A2F-464C-BC90-12607FD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143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Counselor-ready service log and a printable certificate. No locked-in formats.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42703C-99F6-4270-B17F-FC3BF53F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CED9BE-DC30-4231-85B9-CB17C49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4</a:t>
            </a:r>
          </a:p>
        </p:txBody>
      </p:sp>
    </p:spTree>
    <p:extLst>
      <p:ext uri="{BB962C8B-B14F-4D97-AF65-F5344CB8AC3E}">
        <p14:creationId xmlns:p14="http://schemas.microsoft.com/office/powerpoint/2010/main" val="333148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C3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CFA874-A123-4BF9-99E5-4D69DB22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FBF90"/>
                </a:solidFill>
              </a:defRPr>
            </a:pPr>
            <a:r>
              <a:rPr sz="900" b="1">
                <a:solidFill>
                  <a:srgbClr val="8FBF90"/>
                </a:solidFill>
              </a:rPr>
              <a:t>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249B0-488F-4301-A095-0F61162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One product, three real buyers.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90904-0196-4559-B570-FA2BD473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429000" cy="3905250"/>
          </a:xfrm>
          <a:prstGeom xmlns:a="http://schemas.openxmlformats.org/drawingml/2006/main" prst="roundRect">
            <a:avLst>
              <a:gd name="adj" fmla="val 5556"/>
            </a:avLst>
          </a:prstGeom>
          <a:ln xmlns:a="http://schemas.openxmlformats.org/drawingml/2006/main" w="9525">
            <a:solidFill>
              <a:srgbClr val="5FA0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972EF-28CE-4B6B-A728-52A730F6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42900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D8BA9-82DC-4C02-830E-AA27563C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A062"/>
                </a:solidFill>
              </a:defRPr>
            </a:pPr>
            <a:r>
              <a:rPr sz="900" b="1">
                <a:solidFill>
                  <a:srgbClr val="5FA062"/>
                </a:solidFill>
              </a:rPr>
              <a:t>STUDENTS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90095-68FA-42DB-9313-BBF6812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04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Log it once, prove it forever.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87802-71A6-4E26-A152-54C07A1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1F163-40C1-43FB-8A8A-863F7A4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One-tap logging with photo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DB2D5-6E67-41C9-8C5C-9336EFAB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70177-D2A2-490F-95C2-79AF0F4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12 badges that turn consistency into something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CAC69-6204-4FE3-9670-66DC37DF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D687B-A84B-4DF0-B653-2415C47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PDF report that survives a college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80B3B-F711-45D7-A71B-42C23131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905250"/>
          </a:xfrm>
          <a:prstGeom xmlns:a="http://schemas.openxmlformats.org/drawingml/2006/main" prst="roundRect">
            <a:avLst>
              <a:gd name="adj" fmla="val 5556"/>
            </a:avLst>
          </a:prstGeom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9094A-2D4D-4876-AE9E-C0C129D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07858-DFBC-432D-BD2E-7BE80B7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SCHOOLS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3BF0B-6574-4EC7-8087-F78E3F4E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304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Stop chasing spreadsheets.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F25D7-888A-49A0-9873-D702467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A4D4A-DE44-45E9-80EE-CDC15680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290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School PIN join — no manual roster uploads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403F7-335A-430B-9CF3-877C5C5D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6EB22-6BB5-446C-9630-090653A2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525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Verified supervisor flow with PDF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BC31D6-158A-47F3-A140-5BFDF620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6BB3E-2016-4016-8CE3-E5BD25C0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Bulk CSV import + export for counseling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8BBE4-6637-4843-B4CC-9EA003D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429000" cy="3905250"/>
          </a:xfrm>
          <a:prstGeom xmlns:a="http://schemas.openxmlformats.org/drawingml/2006/main" prst="roundRect">
            <a:avLst>
              <a:gd name="adj" fmla="val 5556"/>
            </a:avLst>
          </a:prstGeom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1C4AA9-A56A-4CC3-9DBE-848CD63A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342900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8D584D-F126-4886-9E48-404AE60B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304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A5E9"/>
                </a:solidFill>
              </a:defRPr>
            </a:pPr>
            <a:r>
              <a:rPr sz="900" b="1">
                <a:solidFill>
                  <a:srgbClr val="0EA5E9"/>
                </a:solidFill>
              </a:rPr>
              <a:t>DISTRICTS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B7D585-48D5-4156-B741-3C5E623C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04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One rollout, every student.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2760E-B29C-414B-8083-2B7C98C7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6659D-D8B4-4145-87D7-D3B6281A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Multi-school admin dashboard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8B0B7-494A-49D6-9FA4-97018C90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49DCE1-B2E9-4470-8683-DF45C46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Payment + subscription tracking already built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DD599A-8C34-4AD8-949B-7073017B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8B8AE-90E7-4D08-B6C4-E35DA050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819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An AI agent that monitors system health 24/7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A8D71-8EF4-49DE-8EE3-FB56C89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FBF90"/>
                </a:solidFill>
              </a:defRPr>
            </a:pPr>
            <a:r>
              <a:rPr sz="900">
                <a:solidFill>
                  <a:srgbClr val="8FBF90"/>
                </a:solidFill>
              </a:rPr>
              <a:t>voluntrack.app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91AA3-BF85-41A7-AC56-B833A92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FBF90"/>
                </a:solidFill>
              </a:defRPr>
            </a:pPr>
            <a:r>
              <a:rPr sz="900">
                <a:solidFill>
                  <a:srgbClr val="8FBF90"/>
                </a:solidFill>
              </a:rPr>
              <a:t>Slide 5</a:t>
            </a:r>
          </a:p>
        </p:txBody>
      </p:sp>
    </p:spTree>
    <p:extLst>
      <p:ext uri="{BB962C8B-B14F-4D97-AF65-F5344CB8AC3E}">
        <p14:creationId xmlns:p14="http://schemas.microsoft.com/office/powerpoint/2010/main" val="58972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89411D-F980-4F00-A0C4-AA32638D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WHY IT'S SAFE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17941-BA41-4C17-B1B0-E4D2463A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Privacy isn't a feature. It's the foundation.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5DE72-F7BB-4017-A387-66B922A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A3F"/>
                </a:solidFill>
              </a:defRPr>
            </a:pPr>
            <a:r>
              <a:rPr sz="1350">
                <a:solidFill>
                  <a:srgbClr val="384A3F"/>
                </a:solidFill>
              </a:rPr>
              <a:t>Counselors and parents ask the same question first. Here's the honest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4EC27-83B4-47F5-BFD4-5EF3A08A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6A8B3-ADC9-4DB5-AC84-6B53165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AF1B7-01D7-4503-AC80-8AFF974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7FB8-85A3-4AEF-97DD-D0358A0E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Local-first by default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1FCA1-A7AF-499F-85F7-F01C4F62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Volunteer logs live in the student's browser (localStorage). No cloud, no account, no server talking to volunteer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37E4C-2458-4C52-8101-CB066581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2E75E-CFF1-424A-890D-5962B824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EF76B-6830-44CA-9D6E-DEE341A9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F27D5-B360-4410-8086-CF7F9ABF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No tracking, no telemetry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B3CA7-57A3-4808-B9E2-80D5EAC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The only analytics are Vercel pageviews and speed metrics. There is no event tracking on hours, names, schools, or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520FA-EBAD-4796-9FB3-71B6EF4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3A8FB-DA27-4D81-9CBA-226A0C75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71C2A-3CA3-4FEF-BB40-DB3386BC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FFAF7-BBDF-47C5-8E1B-A9C7A68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School data is opt-in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30681-5298-4FE4-8C4B-BB1ED969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When a school signs up, only then does the server see anything — and only what the student explicitly submits.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4A103-78B0-483A-B5BC-CBD55BA1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967EB-32EA-4CE1-9342-93D352D0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04623-6423-42DF-9FDE-A53A6F8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53D5D-C291-4FAD-8B04-F983B714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482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JWT + bcrypt, rate-limited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CAC9F6-5E06-4392-B930-34581DEA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Server-side auth uses bcrypt password hashing, JWT tokens, parameterized queries, and request rate limiting. See SECURITY.md.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F573C-E0CC-4612-9FEF-F0134929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0E2B7-CDF8-4249-B0C5-7FE030C7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07814-514B-4D78-9DF3-3EB0F45A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14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A18422-8F50-465F-9579-E7B3CA40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0482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Open source, 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6C10B-088A-4EE1-886C-E4FB2B48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911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Every line is on GitHub. Schools can self-host, audit, and extend without vendor lock-in.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26F9A-EC6B-47B8-B663-5A082A2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429000" cy="1905000"/>
          </a:xfrm>
          <a:prstGeom xmlns:a="http://schemas.openxmlformats.org/drawingml/2006/main" prst="roundRect">
            <a:avLst>
              <a:gd name="adj" fmla="val 8000"/>
            </a:avLst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0A09EC-FB73-4526-BB82-F78D9E6D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FC389E-61D3-4DDC-9517-F7313BC5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1485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BEF20-52F4-4110-BC3A-2DCF44A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297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16"/>
                </a:solidFill>
              </a:defRPr>
            </a:pPr>
            <a:r>
              <a:rPr sz="1350" b="1">
                <a:solidFill>
                  <a:srgbClr val="102016"/>
                </a:solidFill>
              </a:rPr>
              <a:t>Recovery without lockout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FEAFD-766A-49DC-8ADF-AB3826B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297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Forgot your PIN or password? A 6-digit recovery code is emailed — works for both new and returning students.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E6C86D-AD0C-48F8-86F0-AC5C104F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41756-5A6A-437F-B37B-7E5E376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6</a:t>
            </a:r>
          </a:p>
        </p:txBody>
      </p:sp>
    </p:spTree>
    <p:extLst>
      <p:ext uri="{BB962C8B-B14F-4D97-AF65-F5344CB8AC3E}">
        <p14:creationId xmlns:p14="http://schemas.microsoft.com/office/powerpoint/2010/main" val="34554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3CB76-AB67-4216-9D70-CFCBD155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THE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E6F1F-8BBE-4C1B-B399-55A78588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Modern, boring, and ready to extend.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5ECEF-4DDD-4FDC-9DCB-725BB48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A3F"/>
                </a:solidFill>
              </a:defRPr>
            </a:pPr>
            <a:r>
              <a:rPr sz="1350">
                <a:solidFill>
                  <a:srgbClr val="384A3F"/>
                </a:solidFill>
              </a:rPr>
              <a:t>Everything is documented in the repo, runs on free tiers, and survives being handed to a junior dev.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33C04-B538-455B-B171-764E145C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2A171-BC48-41A3-8D54-56BFFF0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8FA9B-ECFA-4441-B4AD-FDF8C21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2F238-4847-4254-859A-F58C372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React 18 · Vite 5 · React Router 6 · Tailwind CSS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AE8CD-67C0-491C-8194-59AC49A6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PWA via vite-plugin-pwa. No Webpack, no Next.js, no lock-in.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AE80A-DAC1-4D14-8EEA-70CE6A2C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65842-329A-40CA-81DC-242B270F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5A50E-519B-4CBF-8DF2-2509DC3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F4655-3AB6-43F6-9EF8-F1A816DE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localStorage namespaces · React Context · custom hooks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5772BF-4BE4-4F9D-8EF9-99A3C6BE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Data lives under the voluntrack: namespace — fully exportable, fully portable.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53950-D975-40C5-962F-07090FE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14263-B226-4718-A2C1-C0CDBE9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EB36E-D1FE-407D-B902-ED723EC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824A9-0891-4859-B0B8-C0E5567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Express 4 · PostgreSQL (Neon) · JWT + bcrypt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2C95D-71CB-4FD4-9C91-6A1297B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Optional. The full app works without it. School features turn it 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FDC420-049B-4060-8777-9B5F141F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4CB6D-B779-4013-8859-0D6FFE6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A8A23-E1ED-4031-ABDE-27F48AD1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7178B-0A34-4DE3-A55F-58C24D4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jsPDF · jspdf-autotable · CSV stringifier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09DB9-6B5E-4035-9D0F-0A610580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1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Counselor-ready PDF logs, CSV exports, and printable certificates.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09624-2A4C-4801-AA0B-0B465DD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FC427-A7F2-4325-BDA2-ED5B08D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3F99E-513E-44F8-8CF0-EE6AE20C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AI HELPER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22E67-404A-4E37-8EB5-BFD61BA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On-device agent for log drafting + system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D62C5F-F0A4-489D-B0CF-085A60A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53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Drafts entries from a single sentence. Detects + auto-fixes production incidents.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A0542-32B9-4030-98CE-87FFA946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56C6B-47D8-4D3E-A0B0-1837BDBE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BF142F-4617-40DC-A999-8B178298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1980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F6935"/>
                </a:solidFill>
              </a:defRPr>
            </a:pPr>
            <a:r>
              <a:rPr sz="750" b="1">
                <a:solidFill>
                  <a:srgbClr val="2F6935"/>
                </a:solidFill>
              </a:rPr>
              <a:t>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2434C-09EF-47C6-9B09-8B25B0D3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0300"/>
            <a:ext cx="571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GitHub Actions · GitHub Pages · Render · Vercel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6A3CB5-87B3-4439-8234-09FE7C75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15050"/>
            <a:ext cx="438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CI runs lint + build + preview as three jobs. Green commits auto-deploy.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CA13C2-0EEF-4840-9F62-5A29AA9C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86030-FA47-4384-A3EB-CCDAF83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7</a:t>
            </a:r>
          </a:p>
        </p:txBody>
      </p:sp>
    </p:spTree>
    <p:extLst>
      <p:ext uri="{BB962C8B-B14F-4D97-AF65-F5344CB8AC3E}">
        <p14:creationId xmlns:p14="http://schemas.microsoft.com/office/powerpoint/2010/main" val="1365172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13E801-85D4-481D-A400-86B7C68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WHAT'S SHIPPED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5D846-6463-4E59-A2B7-F9ED817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Phases 1 through 3 are live. Phase 4 is on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1D546-8E4F-48B6-9EB6-DEE92AE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57175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C5519-90C1-4A36-B753-4C8EAC6E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6935"/>
                </a:solidFill>
              </a:defRPr>
            </a:pPr>
            <a:r>
              <a:rPr sz="4200" b="1">
                <a:solidFill>
                  <a:srgbClr val="2F693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65C9D-5D6C-4710-A6A3-0858147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4A3F"/>
                </a:solidFill>
              </a:defRPr>
            </a:pPr>
            <a:r>
              <a:rPr sz="1200" b="1">
                <a:solidFill>
                  <a:srgbClr val="384A3F"/>
                </a:solidFill>
              </a:rPr>
              <a:t>Pages live in the SPA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DE5B1-1269-4338-B526-940B88E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Dashboard, log, calendar, achievements, reports, profile, settings, about, contact, status, admin.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D7FF0-D99F-4EAC-BF4B-4F1A9C85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57175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7ABC-8496-405E-A2D0-915737E8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9550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6935"/>
                </a:solidFill>
              </a:defRPr>
            </a:pPr>
            <a:r>
              <a:rPr sz="4200" b="1">
                <a:solidFill>
                  <a:srgbClr val="2F6935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3CFE5-2365-4AB5-93F4-197728F6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6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4A3F"/>
                </a:solidFill>
              </a:defRPr>
            </a:pPr>
            <a:r>
              <a:rPr sz="1200" b="1">
                <a:solidFill>
                  <a:srgbClr val="384A3F"/>
                </a:solidFill>
              </a:rPr>
              <a:t>Auto-earning badges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290A3-BD80-4A79-843E-4F16E0A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71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First Hour, Streak, 10/50/100 Hours, Category Master, Community Hero, etc.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6D7EC-2054-4ACC-8CCC-A506788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257175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FDA6F-B64D-41DF-9E47-E45FFEA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6935"/>
                </a:solidFill>
              </a:defRPr>
            </a:pPr>
            <a:r>
              <a:rPr sz="4200" b="1">
                <a:solidFill>
                  <a:srgbClr val="2F6935"/>
                </a:solidFill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F4838-36E0-44A2-BFD7-028AD2AA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6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4A3F"/>
                </a:solidFill>
              </a:defRPr>
            </a:pPr>
            <a:r>
              <a:rPr sz="1200" b="1">
                <a:solidFill>
                  <a:srgbClr val="384A3F"/>
                </a:solidFill>
              </a:rPr>
              <a:t>Client-side privacy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6E173-23B3-4CD5-8F0C-D8220E0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All volunteer data in the browser under the voluntrack: namespace.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2E6BC-0F4C-45F4-8C49-7B7E6EB6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2571750" cy="19050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1F96D-9BD8-45CF-9BB6-BF91AB64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9550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6935"/>
                </a:solidFill>
              </a:defRPr>
            </a:pPr>
            <a:r>
              <a:rPr sz="4200" b="1">
                <a:solidFill>
                  <a:srgbClr val="2F6935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6631E-96A6-44A3-8894-2007C57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7622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84A3F"/>
                </a:solidFill>
              </a:defRPr>
            </a:pPr>
            <a:r>
              <a:rPr sz="1200" b="1">
                <a:solidFill>
                  <a:srgbClr val="384A3F"/>
                </a:solidFill>
              </a:rPr>
              <a:t>Account server needed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EE6EB-1EF0-4A70-99B2-148EE8E2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71800"/>
            <a:ext cx="2095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The core app is fully usable without ever talking to a server.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ACA00-C069-437F-8F4E-9239BFA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B7A70"/>
                </a:solidFill>
              </a:defRPr>
            </a:pPr>
            <a:r>
              <a:rPr sz="900" b="1">
                <a:solidFill>
                  <a:srgbClr val="6B7A70"/>
                </a:solidFill>
              </a:rPr>
              <a:t>RECENT RELEASES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BF3B0-51F4-4502-AA4D-B00B400C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AE1D6-9C66-43FF-BA8C-D2A299B6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Email reset for PIN 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3009A-F256-47CE-AB9D-D2CCE7B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CB532-5EDA-4B4D-B06B-BB62489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529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7542D"/>
                </a:solidFill>
              </a:defRPr>
            </a:pPr>
            <a:r>
              <a:rPr sz="825" b="1">
                <a:solidFill>
                  <a:srgbClr val="27542D"/>
                </a:solidFill>
              </a:rPr>
              <a:t>Jul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3EAE2F-78DB-4851-A512-C05CAA0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latest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A8230-BDF1-4F5E-97FA-FA121E6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2980B-FAF6-4B6B-BC79-4CB5132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CI: 3 jobs (lint · build · preview) on Node 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A62B3-6AD6-450C-94EA-EE80BBA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7B00D-9D59-48CB-ADAA-F920C6F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292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7542D"/>
                </a:solidFill>
              </a:defRPr>
            </a:pPr>
            <a:r>
              <a:rPr sz="825" b="1">
                <a:solidFill>
                  <a:srgbClr val="27542D"/>
                </a:solidFill>
              </a:rPr>
              <a:t>Jun 2025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96558-3787-49C3-B001-D8DD1B54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4825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ci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2A0CD-7E2E-4FF2-9153-A5A9D1C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95F00-A7A8-4C84-A975-370A89B0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84A3F"/>
                </a:solidFill>
              </a:defRPr>
            </a:pPr>
            <a:r>
              <a:rPr sz="1125" b="1">
                <a:solidFill>
                  <a:srgbClr val="384A3F"/>
                </a:solidFill>
              </a:rPr>
              <a:t>Initial VolunteerTrack release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3B387-2D41-4F1B-8297-E4B3C5AD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1905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26231C-474A-4B82-9EE0-E1FCC71D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7542D"/>
                </a:solidFill>
              </a:defRPr>
            </a:pPr>
            <a:r>
              <a:rPr sz="825" b="1">
                <a:solidFill>
                  <a:srgbClr val="27542D"/>
                </a:solidFill>
              </a:rPr>
              <a:t>Apr 2025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E2A82-D0CE-4777-97EA-DCAC525A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A70"/>
                </a:solidFill>
              </a:defRPr>
            </a:pPr>
            <a:r>
              <a:rPr sz="825">
                <a:solidFill>
                  <a:srgbClr val="6B7A70"/>
                </a:solidFill>
              </a:rPr>
              <a:t>v0.1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98237-ED17-4217-A896-B87EF0C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1FFFA7-BB2B-4025-A264-0898AC8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82027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D2AE1E-05B4-43C0-BE64-9A7A87FD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HOW IT EARNS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664DE-E7E2-4F7C-8443-79CDFE8D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Free for students. Paid for the orgs that need admin.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FC0F2-1F48-45FB-9301-C20325FD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429000" cy="447675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3F834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DEF01-F628-4C9C-B996-3F8BFBC4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429000" cy="571500"/>
          </a:xfrm>
          <a:prstGeom xmlns:a="http://schemas.openxmlformats.org/drawingml/2006/main" prst="roundRect">
            <a:avLst>
              <a:gd name="adj" fmla="val 30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CC5E9-AE6A-4AC6-AE85-0B552C12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60C95-C05B-47CF-98D0-4A9DB83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37707-BC39-4603-AB59-146F1337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016"/>
                </a:solidFill>
              </a:defRPr>
            </a:pPr>
            <a:r>
              <a:rPr sz="3300" b="1">
                <a:solidFill>
                  <a:srgbClr val="102016"/>
                </a:solidFill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DEB64-9AE7-47F5-BA25-8CF8318F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971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forever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63FC6-510A-4387-8622-B2C7E8E9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2971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Every student gets the full app, every badge, every export, no strings.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259B5-710F-4A4C-9EF8-BC3FC6E0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F7B43-2542-430C-83D9-D54366A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Full hour logging + badges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B3DE0-D01D-4F3D-9047-409CD6D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084E4-98E1-4B78-A2A9-C738EC12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PDF, CSV, certificate export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5A812-C2BB-4AFF-AAF0-3D14BB5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D5981-0538-499C-AB3F-A30FC20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Offline PWA install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9CDA2-D87B-4A1B-BAD2-855453AC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BD84B-B094-41D7-9C0F-FA6B9756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All 12 auto-earning badges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6205D-7E7A-496D-BFAB-F3970017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297180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9494C-7880-4669-A0C3-44B1B83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 the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ADD43-6CF3-4942-9331-0664C749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447675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F03AC-61AE-45D8-926F-29061A65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571500"/>
          </a:xfrm>
          <a:prstGeom xmlns:a="http://schemas.openxmlformats.org/drawingml/2006/main" prst="roundRect">
            <a:avLst>
              <a:gd name="adj" fmla="val 30000"/>
            </a:avLst>
          </a:prstGeom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2FBF5-49C5-4F58-999F-767440D1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80FAC-4B3F-41D1-B619-F2A836B0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SCHOOL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882D0-156A-4145-A2AE-B9963F9E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016"/>
                </a:solidFill>
              </a:defRPr>
            </a:pPr>
            <a:r>
              <a:rPr sz="3300" b="1">
                <a:solidFill>
                  <a:srgbClr val="102016"/>
                </a:solidFill>
              </a:rPr>
              <a:t>$2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C1BEA-E93E-40B4-BC6E-78C46F5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62300"/>
            <a:ext cx="2971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per student / year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A17C0-FBB5-40D7-85C2-28159ED0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2971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Everything in Student, plus the school admin layer. PIN join, rosters, supervisor flow.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C50C5-4281-4B9B-BC94-6C1ACB41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EEBF2-FB1F-4C76-AA35-459BDFC2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School PIN join (no CSV upload)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90C5A-1BA7-4F26-A457-B70A633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DE5C2-04AC-4BB2-A214-1814BD25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624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Verified supervisor + PDF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6F263-1265-4974-89A6-A7E0AC1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600052-8390-4379-9767-C1EE1C1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291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Bulk import + roster management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F18ACF-28B9-4605-9C31-34EE170D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CBE0E-8F0D-49D4-8DC1-9007846D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Counselor-ready reports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A3B8EA-CDFD-4363-8DA6-A5408AB5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905500"/>
            <a:ext cx="297180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DD777F-4E0B-476B-B46F-5D91D0C5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9055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Pilot a school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D8D2C-330F-43E6-987E-52D9103F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429000" cy="447675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14049E-5AFA-4218-A257-D3C9F56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429000" cy="571500"/>
          </a:xfrm>
          <a:prstGeom xmlns:a="http://schemas.openxmlformats.org/drawingml/2006/main" prst="roundRect">
            <a:avLst>
              <a:gd name="adj" fmla="val 30000"/>
            </a:avLst>
          </a:prstGeom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2E539F-A9C7-490C-ACE5-33B1C9D8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14F24C-8757-4E82-BE27-70B703A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DISTRICT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6993D4-3F21-44D5-81F5-A348819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016"/>
                </a:solidFill>
              </a:defRPr>
            </a:pPr>
            <a:r>
              <a:rPr sz="3300" b="1">
                <a:solidFill>
                  <a:srgbClr val="102016"/>
                </a:solidFill>
              </a:rPr>
              <a:t>Custom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FE384E-D571-4687-A022-65EAD07F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971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A70"/>
                </a:solidFill>
              </a:defRPr>
            </a:pPr>
            <a:r>
              <a:rPr sz="975">
                <a:solidFill>
                  <a:srgbClr val="6B7A70"/>
                </a:solidFill>
              </a:rPr>
              <a:t>per district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593842-9A5F-41C0-8EDB-A64ACC8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2971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Multi-school rollout, white-glove onboarding, AI system monitoring, and SLA support.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CF1443-0FF2-419C-9B9F-90A7BE55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EC4AA4-6CE7-44F7-8070-30FB28E2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Multi-school admin dashboard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538775-9E48-4445-BF3E-A7BE9FAF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5FE6E1-0E6A-48E8-BB9E-F7AD4462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624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Custom branding + subdomain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A967FF-78B4-4E87-B620-BF7F25D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C3618B-F523-429B-8BE2-4EFC42C6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AI agent monitoring + fix log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D416F4-94FC-47F4-87E5-394953C8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B05AE1-8F80-4357-AC57-138F385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2838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Priority support · 24h SLA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279B01-B53A-48C9-BD80-38DD6AC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05500"/>
            <a:ext cx="2971800" cy="3048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FAF36E-60E9-48BF-84BF-7797A8D9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055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7DCD7A-77DD-40AA-920A-C060CEE3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97FC37-A87D-4A76-8706-68FB6635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9</a:t>
            </a:r>
          </a:p>
        </p:txBody>
      </p:sp>
    </p:spTree>
    <p:extLst>
      <p:ext uri="{BB962C8B-B14F-4D97-AF65-F5344CB8AC3E}">
        <p14:creationId xmlns:p14="http://schemas.microsoft.com/office/powerpoint/2010/main" val="1979816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223272-6BF0-4939-8D24-31FA7A06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22571-F6C5-4A2E-AF9D-803181FF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Phased, scoped, and already underway.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D0346-6766-4BD7-BADF-7C5CCBB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4000500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E5960-D319-4D54-9AA7-59A3DE9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9DF6D-3290-4975-8769-FB78BA06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683E2-1DFD-455C-B6A4-585CA976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16"/>
                </a:solidFill>
              </a:defRPr>
            </a:pPr>
            <a:r>
              <a:rPr sz="1500" b="1">
                <a:solidFill>
                  <a:srgbClr val="102016"/>
                </a:solidFill>
              </a:rPr>
              <a:t>Core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7E347-D6B9-4F2E-ADD4-AD49654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FE3B2-0737-428C-9BB8-512AED0F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SHIPPED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46AF8-606C-4756-9EBF-1C3C7E1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5AD9A-4AB1-4981-B365-AE4B8B57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Hour logging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DCA4E-8FE6-4B08-BE40-A25E010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EAD20-FDA4-4658-8E70-B1AAF95B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Goals +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85D15-996A-4FEC-846C-8130261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D289F-0E01-4B04-AF8F-D36B9BFD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12 badges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65AE-5083-4773-B74B-C5C11411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E2900-53F2-4A1E-90EC-B5E717D1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Reminders + dark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D7834-5A0E-43F7-B4B7-0C52A16B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A8964-6F89-4FD3-B4BD-576B63B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PWA install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57ADF-CDA9-4955-8B5C-D19145C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571750" cy="4000500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821EA-CAE5-4EA9-BB83-4B7AA32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0025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18FE1-6FE5-4761-A660-747BC82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098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PHASE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8E1EF-3CB4-42CB-A9EF-2C175B2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384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16"/>
                </a:solidFill>
              </a:defRPr>
            </a:pPr>
            <a:r>
              <a:rPr sz="1500" b="1">
                <a:solidFill>
                  <a:srgbClr val="102016"/>
                </a:solidFill>
              </a:rPr>
              <a:t>Auth + 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9AF92-2CBE-4F9A-9810-1200FB8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8AEE3-3213-4D73-BB6C-90B2EE63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480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SHIPPED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C95F3-FA1C-4738-A944-087CB74C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81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431B9-E7F8-47F6-BC79-F0DB5AC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242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Email + password login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B753A-84BD-4EB1-9BBA-27F9F79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24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CEEBC-B63B-4E0A-A165-C0EF26B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8671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PIN protection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24D832-17F3-449E-AEC8-90589B57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1EB24-7564-4651-B7AC-307C386D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100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Recovery codes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E1EDF8-9558-4AAD-9228-33311E6C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8ADCE-F023-4F7E-90A3-81B0E08A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52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Account dashboards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0CEC1F-C2FA-4DC2-8D5E-2FB601C9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953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44D46C-0493-4CA7-B0E7-DF854689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8958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Multi-user isolation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4AEFF-DA9A-41A3-A14F-3E9718EE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571750" cy="4000500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73A302-046B-4C4A-BF39-DA2D8E06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591A8-460E-4905-8E34-DF91A820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PHASE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183E0-9582-46A4-A6F3-64C40002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16"/>
                </a:solidFill>
              </a:defRPr>
            </a:pPr>
            <a:r>
              <a:rPr sz="1500" b="1">
                <a:solidFill>
                  <a:srgbClr val="102016"/>
                </a:solidFill>
              </a:rPr>
              <a:t>School partnerships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AAFF77-8EA2-4864-B658-600F7D0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73848-FFCA-43CB-96DD-CBC2B6B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SHIPPED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B28053-51F6-425D-91C3-A3E7E5B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19C6C1-BB97-4603-B55F-26E33403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School PIN join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01B93-C305-4C03-88BE-2EC85A9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766EF7-2D38-4374-9D25-5200084B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Verified supervisor flow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2BADCA-C00E-4A2A-8C12-D1B9E35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FE0929-5151-4905-AF7D-0D878B06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Payment + subscription tracking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AD848D-64AC-4FE0-8C43-652B167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91C022-6B1C-4FF0-82AB-D2AE233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52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Admin dashboard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1BD925-9C7B-4848-A122-8FF87E9E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40D559-13C6-4CE5-A94E-B0D6CCE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958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AI system monitoring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7BAD9E-5BD0-4C99-BAE5-B167952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571750" cy="4000500"/>
          </a:xfrm>
          <a:prstGeom xmlns:a="http://schemas.openxmlformats.org/drawingml/2006/main" prst="roundRect">
            <a:avLst>
              <a:gd name="adj" fmla="val 5926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D8CD89-2EDF-4B6E-AB77-748FA596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0025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36592A-3AB1-4FBB-AE91-3CEA7643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B7A70"/>
                </a:solidFill>
              </a:defRPr>
            </a:pPr>
            <a:r>
              <a:rPr sz="750" b="1">
                <a:solidFill>
                  <a:srgbClr val="6B7A70"/>
                </a:solidFill>
              </a:rPr>
              <a:t>PHASE 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6E86B5-0FA8-47DD-AA69-474A33BC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38400"/>
            <a:ext cx="2190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16"/>
                </a:solidFill>
              </a:defRPr>
            </a:pPr>
            <a:r>
              <a:rPr sz="1500" b="1">
                <a:solidFill>
                  <a:srgbClr val="102016"/>
                </a:solidFill>
              </a:rPr>
              <a:t>Native + integrations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563FC3-06FB-4C88-881C-9356C24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762000" cy="2286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B9E39A-C55C-4B89-BF8E-B96FF53F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9AAA70-AED7-4FB6-9D4C-797ED92F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81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C8338C-EAF7-4EF7-B50E-81FBF66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242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Native iOS + Android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77E01B-33D5-43F9-BAE1-75F6455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24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591231-C50E-42A1-AE52-C5520ABB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Public REST API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C51815D-2BFF-4721-908F-20737BB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8850F4-2F4B-4F43-AC01-5424F694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100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Zapier + Make webhooks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7ACA20-67BA-4B2D-B6CD-D3FD5E45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D27519-FE03-4AA4-9EB2-D543CD1C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529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Bulk CSV import v2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7CE2FA-2653-4263-9C78-40C44F6E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DE97A7D-7B52-4BB1-BC8A-2BAC7FEB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895850"/>
            <a:ext cx="203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84A3F"/>
                </a:solidFill>
              </a:defRPr>
            </a:pPr>
            <a:r>
              <a:rPr sz="975">
                <a:solidFill>
                  <a:srgbClr val="384A3F"/>
                </a:solidFill>
              </a:rPr>
              <a:t>Calendar integrations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74839A-0123-48F9-BE72-12516A37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864FE4-8A02-4DB3-8FED-90A1C34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925698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E85F5-9B9E-4621-A5DB-FF7F4C8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HOW IT PLAYS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9F1F6-E51F-45E6-8859-D6D4268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Lincoln High · 1,200 students · one semester.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41288-C208-4F5C-B5E1-CCC4080E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334000" cy="4000500"/>
          </a:xfrm>
          <a:prstGeom xmlns:a="http://schemas.openxmlformats.org/drawingml/2006/main" prst="roundRect">
            <a:avLst>
              <a:gd name="adj" fmla="val 3810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3806D-0CF1-427B-B49B-EBD0D17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THE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FF965-1123-4A92-80E0-2379047E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84A3F"/>
                </a:solidFill>
              </a:defRPr>
            </a:pPr>
            <a:r>
              <a:rPr sz="1350">
                <a:solidFill>
                  <a:srgbClr val="384A3F"/>
                </a:solidFill>
              </a:rPr>
              <a:t>Maria is a senior at Lincoln High. She needs 100 verified hours to graduate and 75 for her scholarship application.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E2C79-25CE-4C13-AF62-888283B6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She joins VolunTrack with the school PIN and gets a private account on her own device.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D344D-18DF-4261-ADED-C0789A8F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She logs hours at the food bank. The AI agent drafts the entry from a one-sentence description. She confirms.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4A876-2EEB-4766-8397-7636BF75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Her supervisor uploads a signed PDF. The school admin verifies it inline. Maria's record updates automatically.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C6D91-42EA-460A-9ED2-A078A55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84A3F"/>
                </a:solidFill>
              </a:defRPr>
            </a:pPr>
            <a:r>
              <a:rPr sz="1200">
                <a:solidFill>
                  <a:srgbClr val="384A3F"/>
                </a:solidFill>
              </a:rPr>
              <a:t>Counselor exports her full log for the scholarship committee. Done — 12 minutes, end to 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7D345-E767-4BEC-8B8C-8628B36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3340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004C4-E81E-4B23-B053-F5676E8D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FBF90"/>
                </a:solidFill>
              </a:defRPr>
            </a:pPr>
            <a:r>
              <a:rPr sz="900" b="1">
                <a:solidFill>
                  <a:srgbClr val="8FBF90"/>
                </a:solidFill>
              </a:rPr>
              <a:t>THE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CEFA9-51EE-4BD0-9370-2BB3B822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12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68159-FA0F-4A29-AC93-C182DEA6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average time to log + verify a single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E4490-8BE2-43D4-9DF7-B4C5943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8C391-77E0-42C7-ACDE-F2EFFFF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student pays for the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B6E4B-E454-454E-95F8-D0F66D9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29673-CBF4-4D82-A26C-EAE8F31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of her hours are exportable, portable, and provable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5E893-F805-4381-842B-A507431B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1905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1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6B65F-6A75-4592-9EB8-2B14EAD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CDC"/>
                </a:solidFill>
              </a:defRPr>
            </a:pPr>
            <a:r>
              <a:rPr sz="1050">
                <a:solidFill>
                  <a:srgbClr val="DCECDC"/>
                </a:solidFill>
              </a:rPr>
              <a:t>instead of a backpack full of paper sign-in sheets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E66DE-0AAF-42F7-8E6A-59CE8C1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C1EEB-C940-4BA6-A9F1-2B2EDA1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344748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37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18D6B-96B2-4DD5-A6A1-32E024A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FBF90"/>
                </a:solidFill>
              </a:defRPr>
            </a:pPr>
            <a:r>
              <a:rPr sz="900" b="1">
                <a:solidFill>
                  <a:srgbClr val="8FBF90"/>
                </a:solidFill>
              </a:rPr>
              <a:t>HIRE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E7F29-DEE2-4D48-95CA-2D383251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I built VolunTrack. I can build yours too.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C818A-EDBA-45B9-9EC3-47EF8FA9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CDABC"/>
                </a:solidFill>
              </a:defRPr>
            </a:pPr>
            <a:r>
              <a:rPr sz="1350">
                <a:solidFill>
                  <a:srgbClr val="BCDABC"/>
                </a:solidFill>
              </a:rPr>
              <a:t>Same stack, same discipline, applied to your product, your school, or your internal tool.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9A2EA-F950-4A87-AFE5-2DA44A3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571750" cy="3429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5FA0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1B098-7F15-4A6C-8CB3-CF79FDF1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9EF2C-9033-4BA3-A8A6-01BFE802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A062"/>
                </a:solidFill>
              </a:defRPr>
            </a:pPr>
            <a:r>
              <a:rPr sz="900" b="1">
                <a:solidFill>
                  <a:srgbClr val="5FA062"/>
                </a:solidFill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BBBDA-E2E0-4286-9880-AF6F838B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Custom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07077-7DB0-4082-8EB9-130FD382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$8k – $25k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0A582-6A90-4E6F-86F4-EAABB00A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28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CDABC"/>
                </a:solidFill>
              </a:defRPr>
            </a:pPr>
            <a:r>
              <a:rPr sz="1050">
                <a:solidFill>
                  <a:srgbClr val="BCDABC"/>
                </a:solidFill>
              </a:rPr>
              <a:t>A full React + Vite + Tailwind PWA, deployed to your domain, branded to you. 3–6 weeks.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55800-7F7D-4EE7-94D3-B539426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571750" cy="3429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F848B-51B6-4E87-98BE-85F48224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4890D-9A68-4F62-8D31-E3870E94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</a:rPr>
              <a:t>EXTEND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55B99-6B4B-45D0-89F9-2E7B777A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Add a feature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E6F61-EB41-41EF-AEAB-904824F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623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$500 – $4k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6D29D-3E53-4C99-92FE-537D95C9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228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CDABC"/>
                </a:solidFill>
              </a:defRPr>
            </a:pPr>
            <a:r>
              <a:rPr sz="1050">
                <a:solidFill>
                  <a:srgbClr val="BCDABC"/>
                </a:solidFill>
              </a:rPr>
              <a:t>Auth, payments, dashboards, AI helpers, export pipelines, integrations. Scoped per ticket.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42F85-17DB-4658-9756-8589A26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71750" cy="3429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566DC-3CB7-40DB-BDA2-C2CE185F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FEFD1-F47E-4EBD-86DE-E1291F9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EA5E9"/>
                </a:solidFill>
              </a:defRPr>
            </a:pPr>
            <a:r>
              <a:rPr sz="900" b="1">
                <a:solidFill>
                  <a:srgbClr val="0EA5E9"/>
                </a:solidFill>
              </a:rPr>
              <a:t>WHITE-LABEL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C3067-A7A7-4930-8696-40A3E1EA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License VolunTrack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38E1C-C703-479B-B256-6182ADD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$5k + $1k/yr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13022-737F-402A-98CE-01BF8A84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228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CDABC"/>
                </a:solidFill>
              </a:defRPr>
            </a:pPr>
            <a:r>
              <a:rPr sz="1050">
                <a:solidFill>
                  <a:srgbClr val="BCDABC"/>
                </a:solidFill>
              </a:rPr>
              <a:t>Your branding, your domain, your student data on your Postgres. Source code included.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A6851F-9B86-4CD9-AAA4-417C9CD5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571750" cy="3429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7DFF5-D4E2-41E1-AC71-1AB429E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571750" cy="571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CE83D-FEBD-4A3E-9CB4-8B0AA22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286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B981"/>
                </a:solidFill>
              </a:defRPr>
            </a:pPr>
            <a:r>
              <a:rPr sz="900" b="1">
                <a:solidFill>
                  <a:srgbClr val="10B981"/>
                </a:solidFill>
              </a:rPr>
              <a:t>RETAIN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3B6FE5-3623-4941-8615-E511B0A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Monthly partnership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0AEFDE-6575-48FB-9F64-B30216F4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$2k – $6k / 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7A045-19C6-44A6-9325-AA72CD9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76650"/>
            <a:ext cx="2286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CDABC"/>
                </a:solidFill>
              </a:defRPr>
            </a:pPr>
            <a:r>
              <a:rPr sz="1050">
                <a:solidFill>
                  <a:srgbClr val="BCDABC"/>
                </a:solidFill>
              </a:rPr>
              <a:t>Hosting, monitoring, AI agent ops, feature requests, and on-call. Cancel any month.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CCF764-811E-4FF6-BC7B-D9B93F43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FBF90"/>
                </a:solidFill>
              </a:defRPr>
            </a:pPr>
            <a:r>
              <a:rPr sz="900">
                <a:solidFill>
                  <a:srgbClr val="8FBF90"/>
                </a:solidFill>
              </a:rPr>
              <a:t>voluntrack.app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7AEF22-7301-4B6C-86CB-1326176E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FBF90"/>
                </a:solidFill>
              </a:defRPr>
            </a:pPr>
            <a:r>
              <a:rPr sz="900">
                <a:solidFill>
                  <a:srgbClr val="8FBF90"/>
                </a:solidFill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3377502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77E369-8076-4B63-9AB4-70E16351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381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F6935"/>
                </a:solidFill>
              </a:defRPr>
            </a:pPr>
            <a:r>
              <a:rPr sz="900" b="1">
                <a:solidFill>
                  <a:srgbClr val="2F6935"/>
                </a:solidFill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237BB-3A5A-491B-888B-8017772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016"/>
                </a:solidFill>
              </a:defRPr>
            </a:pPr>
            <a:r>
              <a:rPr sz="2700" b="1">
                <a:solidFill>
                  <a:srgbClr val="102016"/>
                </a:solidFill>
              </a:rPr>
              <a:t>Three ways to take the next ten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1157E-1B2F-4500-BB19-9347D49C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1238250"/>
          </a:xfrm>
          <a:prstGeom xmlns:a="http://schemas.openxmlformats.org/drawingml/2006/main" prst="roundRect">
            <a:avLst>
              <a:gd name="adj" fmla="val 12308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32248-BBDB-4D1C-9934-3F3BEB84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7E859-6F73-42A9-8E6A-B36AB9FA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952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CDABC"/>
                </a:solidFill>
              </a:defRPr>
            </a:pPr>
            <a:r>
              <a:rPr sz="4200" b="1">
                <a:solidFill>
                  <a:srgbClr val="BCDAB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7AA15-6F28-4377-8E66-9608E65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907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016"/>
                </a:solidFill>
              </a:defRPr>
            </a:pPr>
            <a:r>
              <a:rPr sz="1800" b="1">
                <a:solidFill>
                  <a:srgbClr val="102016"/>
                </a:solidFill>
              </a:rPr>
              <a:t>Try the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8D34E-7704-4AAB-81CB-ADFEE062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514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Open the app, sign in with any email + password, and log a single hour. Time it — it's under 90 seconds.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80111-A0A0-4682-AA7F-DD54EF04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935"/>
                </a:solidFill>
              </a:defRPr>
            </a:pPr>
            <a:r>
              <a:rPr sz="825" b="1">
                <a:solidFill>
                  <a:srgbClr val="2F6935"/>
                </a:solidFill>
              </a:rPr>
              <a:t>OPEN THE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8C421-8084-440E-B4F3-E552274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542D"/>
                </a:solidFill>
              </a:defRPr>
            </a:pPr>
            <a:r>
              <a:rPr sz="1350" b="1">
                <a:solidFill>
                  <a:srgbClr val="27542D"/>
                </a:solidFill>
              </a:rPr>
              <a:t>hriday21223.github.io/VolunteerTrack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2FD57-4563-444A-8DCB-B6241FEB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668000" cy="1238250"/>
          </a:xfrm>
          <a:prstGeom xmlns:a="http://schemas.openxmlformats.org/drawingml/2006/main" prst="roundRect">
            <a:avLst>
              <a:gd name="adj" fmla="val 12308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12A41-5845-4A50-B8FB-0B6D1C8E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6009B-5060-4A53-9408-F2778E1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952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CDABC"/>
                </a:solidFill>
              </a:defRPr>
            </a:pPr>
            <a:r>
              <a:rPr sz="4200" b="1">
                <a:solidFill>
                  <a:srgbClr val="BCDAB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91E1-D88B-4355-B0DF-A603B28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1875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016"/>
                </a:solidFill>
              </a:defRPr>
            </a:pPr>
            <a:r>
              <a:rPr sz="1800" b="1">
                <a:solidFill>
                  <a:srgbClr val="102016"/>
                </a:solidFill>
              </a:rPr>
              <a:t>Read the 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0A12D-905C-4CC4-B876-9C14F56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514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Everything is on GitHub under MIT. Read SECURITY.md for the auth model, README.md for the stack.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CE8A5-E592-4844-87FC-624C4E3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90925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935"/>
                </a:solidFill>
              </a:defRPr>
            </a:pPr>
            <a:r>
              <a:rPr sz="825" b="1">
                <a:solidFill>
                  <a:srgbClr val="2F6935"/>
                </a:solidFill>
              </a:rPr>
              <a:t>VIEW ON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2C257-9AF5-4D09-8039-2731378D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38575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542D"/>
                </a:solidFill>
              </a:defRPr>
            </a:pPr>
            <a:r>
              <a:rPr sz="1350" b="1">
                <a:solidFill>
                  <a:srgbClr val="27542D"/>
                </a:solidFill>
              </a:rPr>
              <a:t>github.com/Hriday21223/VolunteerTrack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D57E9-FC10-4467-AB82-5A0BA15B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668000" cy="1238250"/>
          </a:xfrm>
          <a:prstGeom xmlns:a="http://schemas.openxmlformats.org/drawingml/2006/main" prst="roundRect">
            <a:avLst>
              <a:gd name="adj" fmla="val 12308"/>
            </a:avLst>
          </a:prstGeom>
          <a:ln xmlns:a="http://schemas.openxmlformats.org/drawingml/2006/main" w="9525">
            <a:solidFill>
              <a:srgbClr val="E2D4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0EAA5-C5AB-4374-BDA0-F6EA399E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57150" cy="1238250"/>
          </a:xfrm>
          <a:prstGeom xmlns:a="http://schemas.openxmlformats.org/drawingml/2006/main" prst="roundRect">
            <a:avLst>
              <a:gd name="adj" fmla="val 50000"/>
            </a:avLst>
          </a:prstGeom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E5A1D-646B-4EBA-81F8-EE83191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52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CDABC"/>
                </a:solidFill>
              </a:defRPr>
            </a:pPr>
            <a:r>
              <a:rPr sz="4200" b="1">
                <a:solidFill>
                  <a:srgbClr val="BCDABC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5FF08-BE7B-408C-BEC4-29C935B6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016"/>
                </a:solidFill>
              </a:defRPr>
            </a:pPr>
            <a:r>
              <a:rPr sz="1800" b="1">
                <a:solidFill>
                  <a:srgbClr val="102016"/>
                </a:solidFill>
              </a:rPr>
              <a:t>Start the conversation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46167-CDE3-4E15-B6D7-90D26B32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5143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84A3F"/>
                </a:solidFill>
              </a:defRPr>
            </a:pPr>
            <a:r>
              <a:rPr sz="1050">
                <a:solidFill>
                  <a:srgbClr val="384A3F"/>
                </a:solidFill>
              </a:rPr>
              <a:t>Email is the fastest path. I reply within a business day, and I'm happy to do a 20-minute call before any commitment.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DBBBA-CCBD-4C1B-9AA1-A4736351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72050"/>
            <a:ext cx="381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F6935"/>
                </a:solidFill>
              </a:defRPr>
            </a:pPr>
            <a:r>
              <a:rPr sz="825" b="1">
                <a:solidFill>
                  <a:srgbClr val="2F6935"/>
                </a:solidFill>
              </a:rPr>
              <a:t>EMAIL 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ADC70-59D5-4D59-817E-504B5D45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542D"/>
                </a:solidFill>
              </a:defRPr>
            </a:pPr>
            <a:r>
              <a:rPr sz="1350" b="1">
                <a:solidFill>
                  <a:srgbClr val="27542D"/>
                </a:solidFill>
              </a:rPr>
              <a:t>volunteertrack@googlegroups.com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A003F-279C-47D3-BABE-B971D0CA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3810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voluntrack.app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3F613-10F5-4B99-B707-DB19102E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A70"/>
                </a:solidFill>
              </a:defRPr>
            </a:pPr>
            <a:r>
              <a:rPr sz="900">
                <a:solidFill>
                  <a:srgbClr val="6B7A70"/>
                </a:solidFill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1020801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2026-07-06T15:04:48.2380000Z</dcterms:created>
  <dcterms:modified xsi:type="dcterms:W3CDTF">2026-07-06T15:04:48.2380000Z</dcterms:modified>
</coreProperties>
</file>