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a5991b98ff495b" /><Relationship Type="http://schemas.openxmlformats.org/officeDocument/2006/relationships/extended-properties" Target="/docProps/app.xml" Id="R0b18b28d65854a8a" /><Relationship Type="http://schemas.openxmlformats.org/officeDocument/2006/relationships/officeDocument" Target="/ppt/presentation.xml" Id="R3ecafc34ce7f48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b6d90b91d45c6"/>
  </p:sldMasterIdLst>
  <p:notesMasterIdLst>
    <p:notesMasterId xmlns:r="http://schemas.openxmlformats.org/officeDocument/2006/relationships" r:id="R62fc3d55be6f42b0"/>
  </p:notesMasterIdLst>
  <p:sldIdLst>
    <p:sldId xmlns:r="http://schemas.openxmlformats.org/officeDocument/2006/relationships" id="256" r:id="Rfb3ff70fbd044e61"/>
    <p:sldId xmlns:r="http://schemas.openxmlformats.org/officeDocument/2006/relationships" id="257" r:id="R4708b1e0fdfc4955"/>
    <p:sldId xmlns:r="http://schemas.openxmlformats.org/officeDocument/2006/relationships" id="258" r:id="R962973c3bfd0498f"/>
    <p:sldId xmlns:r="http://schemas.openxmlformats.org/officeDocument/2006/relationships" id="259" r:id="Rfb63814c60f24cee"/>
    <p:sldId xmlns:r="http://schemas.openxmlformats.org/officeDocument/2006/relationships" id="260" r:id="R073a80e17281477d"/>
    <p:sldId xmlns:r="http://schemas.openxmlformats.org/officeDocument/2006/relationships" id="261" r:id="R363522fe35344bcc"/>
    <p:sldId xmlns:r="http://schemas.openxmlformats.org/officeDocument/2006/relationships" id="262" r:id="R72b7c03acbbf435f"/>
    <p:sldId xmlns:r="http://schemas.openxmlformats.org/officeDocument/2006/relationships" id="263" r:id="Rd680cf483cb346e6"/>
    <p:sldId xmlns:r="http://schemas.openxmlformats.org/officeDocument/2006/relationships" id="264" r:id="R920fabfe85a64f0b"/>
    <p:sldId xmlns:r="http://schemas.openxmlformats.org/officeDocument/2006/relationships" id="265" r:id="R5fbcc1b89677445e"/>
    <p:sldId xmlns:r="http://schemas.openxmlformats.org/officeDocument/2006/relationships" id="266" r:id="R21573185aff14491"/>
    <p:sldId xmlns:r="http://schemas.openxmlformats.org/officeDocument/2006/relationships" id="267" r:id="Rfc30004c9fee49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0946782740414a" /><Relationship Type="http://schemas.openxmlformats.org/officeDocument/2006/relationships/slideMaster" Target="/ppt/slideMasters/slideMaster1.xml" Id="R753b6d90b91d45c6" /><Relationship Type="http://schemas.openxmlformats.org/officeDocument/2006/relationships/notesMaster" Target="/ppt/notesMasters/notesMaster1.xml" Id="R62fc3d55be6f42b0" /><Relationship Type="http://schemas.openxmlformats.org/officeDocument/2006/relationships/presProps" Target="/ppt/presProps.xml" Id="R7fe43afa54654dda" /><Relationship Type="http://schemas.openxmlformats.org/officeDocument/2006/relationships/tableStyles" Target="/ppt/tableStyles.xml" Id="R1b3c266cf977404f" /><Relationship Type="http://schemas.openxmlformats.org/officeDocument/2006/relationships/slide" Target="/ppt/slides/slide1.xml" Id="Rfb3ff70fbd044e61" /><Relationship Type="http://schemas.openxmlformats.org/officeDocument/2006/relationships/slide" Target="/ppt/slides/slide2.xml" Id="R4708b1e0fdfc4955" /><Relationship Type="http://schemas.openxmlformats.org/officeDocument/2006/relationships/slide" Target="/ppt/slides/slide3.xml" Id="R962973c3bfd0498f" /><Relationship Type="http://schemas.openxmlformats.org/officeDocument/2006/relationships/slide" Target="/ppt/slides/slide4.xml" Id="Rfb63814c60f24cee" /><Relationship Type="http://schemas.openxmlformats.org/officeDocument/2006/relationships/slide" Target="/ppt/slides/slide5.xml" Id="R073a80e17281477d" /><Relationship Type="http://schemas.openxmlformats.org/officeDocument/2006/relationships/slide" Target="/ppt/slides/slide6.xml" Id="R363522fe35344bcc" /><Relationship Type="http://schemas.openxmlformats.org/officeDocument/2006/relationships/slide" Target="/ppt/slides/slide7.xml" Id="R72b7c03acbbf435f" /><Relationship Type="http://schemas.openxmlformats.org/officeDocument/2006/relationships/slide" Target="/ppt/slides/slide8.xml" Id="Rd680cf483cb346e6" /><Relationship Type="http://schemas.openxmlformats.org/officeDocument/2006/relationships/slide" Target="/ppt/slides/slide9.xml" Id="R920fabfe85a64f0b" /><Relationship Type="http://schemas.openxmlformats.org/officeDocument/2006/relationships/slide" Target="/ppt/slides/slide10.xml" Id="R5fbcc1b89677445e" /><Relationship Type="http://schemas.openxmlformats.org/officeDocument/2006/relationships/slide" Target="/ppt/slides/slide11.xml" Id="R21573185aff14491" /><Relationship Type="http://schemas.openxmlformats.org/officeDocument/2006/relationships/slide" Target="/ppt/slides/slide12.xml" Id="Rfc30004c9fee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e2580b2dcf4c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697a83a4a4d1d" /><Relationship Type="http://schemas.openxmlformats.org/officeDocument/2006/relationships/notesMaster" Target="/ppt/notesMasters/notesMaster1.xml" Id="R39c0fd67b02a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21071a650456c" /><Relationship Type="http://schemas.openxmlformats.org/officeDocument/2006/relationships/notesMaster" Target="/ppt/notesMasters/notesMaster1.xml" Id="Rd9de243a4bd54a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ad3da3c99499e" /><Relationship Type="http://schemas.openxmlformats.org/officeDocument/2006/relationships/notesMaster" Target="/ppt/notesMasters/notesMaster1.xml" Id="R59fcc401979444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ede65ab8f4903" /><Relationship Type="http://schemas.openxmlformats.org/officeDocument/2006/relationships/notesMaster" Target="/ppt/notesMasters/notesMaster1.xml" Id="R3d14f689684c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25ca9504be45cc" /><Relationship Type="http://schemas.openxmlformats.org/officeDocument/2006/relationships/notesMaster" Target="/ppt/notesMasters/notesMaster1.xml" Id="Rd86b1132bd6c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c1d6b2972b4d73" /><Relationship Type="http://schemas.openxmlformats.org/officeDocument/2006/relationships/notesMaster" Target="/ppt/notesMasters/notesMaster1.xml" Id="R903741ad1a7c49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fff492c4744a50" /><Relationship Type="http://schemas.openxmlformats.org/officeDocument/2006/relationships/notesMaster" Target="/ppt/notesMasters/notesMaster1.xml" Id="R17bbe9645c2f41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b0d45c35a64db7" /><Relationship Type="http://schemas.openxmlformats.org/officeDocument/2006/relationships/notesMaster" Target="/ppt/notesMasters/notesMaster1.xml" Id="R5572cd4ce8224c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61e9e7e03e45a8" /><Relationship Type="http://schemas.openxmlformats.org/officeDocument/2006/relationships/notesMaster" Target="/ppt/notesMasters/notesMaster1.xml" Id="R895d7b30cb3f4e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b17badb24448a3" /><Relationship Type="http://schemas.openxmlformats.org/officeDocument/2006/relationships/notesMaster" Target="/ppt/notesMasters/notesMaster1.xml" Id="Rfd06482383a74a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f87925d64948c0" /><Relationship Type="http://schemas.openxmlformats.org/officeDocument/2006/relationships/notesMaster" Target="/ppt/notesMasters/notesMaster1.xml" Id="R3b7dd230eed443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46787f44474346" /><Relationship Type="http://schemas.openxmlformats.org/officeDocument/2006/relationships/notesMaster" Target="/ppt/notesMasters/notesMaster1.xml" Id="R95c7cdead62e4a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2caadab0f4e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b532db38442b4" /><Relationship Type="http://schemas.openxmlformats.org/officeDocument/2006/relationships/slideLayout" Target="/ppt/slideLayouts/slideLayout1.xml" Id="R496b9af697c54a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6b9af697c54a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c6fc820d94dae" /><Relationship Type="http://schemas.openxmlformats.org/officeDocument/2006/relationships/notesSlide" Target="/ppt/notesSlides/notesSlide1.xml" Id="Re05d2368b437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4174a1344306" /><Relationship Type="http://schemas.openxmlformats.org/officeDocument/2006/relationships/notesSlide" Target="/ppt/notesSlides/notesSlide2.xml" Id="Rd4881a382b6a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d4af6b5414aa9" /><Relationship Type="http://schemas.openxmlformats.org/officeDocument/2006/relationships/notesSlide" Target="/ppt/notesSlides/notesSlide3.xml" Id="R7200530689974f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20d2316d461b" /><Relationship Type="http://schemas.openxmlformats.org/officeDocument/2006/relationships/notesSlide" Target="/ppt/notesSlides/notesSlide4.xml" Id="Rd15afc85a7194a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4149a1edc4306" /><Relationship Type="http://schemas.openxmlformats.org/officeDocument/2006/relationships/notesSlide" Target="/ppt/notesSlides/notesSlide5.xml" Id="Ra7b39893891d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ea5c59e724c16" /><Relationship Type="http://schemas.openxmlformats.org/officeDocument/2006/relationships/notesSlide" Target="/ppt/notesSlides/notesSlide6.xml" Id="R5b7eace7f21146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9232548cb48c8" /><Relationship Type="http://schemas.openxmlformats.org/officeDocument/2006/relationships/notesSlide" Target="/ppt/notesSlides/notesSlide7.xml" Id="R89c6fcd67179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6f1699af4db4" /><Relationship Type="http://schemas.openxmlformats.org/officeDocument/2006/relationships/notesSlide" Target="/ppt/notesSlides/notesSlide8.xml" Id="R1f7ba869401246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bc80316844bc" /><Relationship Type="http://schemas.openxmlformats.org/officeDocument/2006/relationships/notesSlide" Target="/ppt/notesSlides/notesSlide9.xml" Id="Raebdaf3314b140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1abd573a54c68" /><Relationship Type="http://schemas.openxmlformats.org/officeDocument/2006/relationships/notesSlide" Target="/ppt/notesSlides/notesSlide10.xml" Id="R9d6238dc1db64a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58195c7be47ca" /><Relationship Type="http://schemas.openxmlformats.org/officeDocument/2006/relationships/notesSlide" Target="/ppt/notesSlides/notesSlide11.xml" Id="Rcb760183989048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91f4810f14b2e" /><Relationship Type="http://schemas.openxmlformats.org/officeDocument/2006/relationships/notesSlide" Target="/ppt/notesSlides/notesSlide12.xml" Id="Rf1acc923221c42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E5F86-9DD8-4AE8-87A2-B76E483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-1524000"/>
            <a:ext cx="5715000" cy="571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01AC6-3873-4886-839A-6A466790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B28C0-6BFC-4AF5-B33B-DC9705B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3CAC9-91A5-4E2E-ADC4-1D177115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876CD-8F33-49AB-927F-AD70E83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144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</a:defRPr>
            </a:pPr>
            <a:r>
              <a:rPr sz="900" b="1">
                <a:solidFill>
                  <a:srgbClr val="3F8344"/>
                </a:solidFill>
              </a:rPr>
              <a:t>VOLUNTRACK · PITCH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9FC4A-9A3A-452B-80A7-86EF6068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38250"/>
            <a:ext cx="9715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5F4"/>
                </a:solidFill>
              </a:defRPr>
            </a:pPr>
            <a:r>
              <a:rPr sz="4800" b="1">
                <a:solidFill>
                  <a:srgbClr val="F5F5F4"/>
                </a:solidFill>
              </a:rPr>
              <a:t>A calmer way to track volunteer hours.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DCCF-4ADD-4772-A0A4-47B9B0B2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290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5D1"/>
                </a:solidFill>
              </a:defRPr>
            </a:pPr>
            <a:r>
              <a:rPr sz="1350">
                <a:solidFill>
                  <a:srgbClr val="CBD5D1"/>
                </a:solidFill>
              </a:rPr>
              <a:t>VolunTrack is a privacy-first PWA for students and clubs to log service hours, set goals, earn badges, and export reports — without an account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4AC88-5F45-4CC7-BAED-70B3463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1447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A16F3-F373-4553-80AF-97B22C04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React 18 ·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C593C-9CA2-4F8B-8184-3D2F108C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F36B3-A67B-4F95-BB1A-0E71A72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PWA · offline-first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56F01-AB1B-4A29-9F7E-8521B9EF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7675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58C90-F828-401C-8DFF-80908833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767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localStorage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F252D-C606-41D8-83A3-8C09D6F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C9A56-5E05-4F37-8386-7D63984A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Open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3B01D-E344-4082-973C-34FF84B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BDF8"/>
                </a:solidFill>
              </a:defRPr>
            </a:pPr>
            <a:r>
              <a:rPr sz="975">
                <a:solidFill>
                  <a:srgbClr val="38BDF8"/>
                </a:solidFill>
              </a:rPr>
              <a:t>github.com/Hriday21223/VolunteerTrack  ·  hriday21223.github.io/VolunteerTrack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AAEA7-0B4A-4C92-8B11-92A917D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COVER    01 / 12</a:t>
            </a:r>
          </a:p>
        </p:txBody>
      </p:sp>
    </p:spTree>
    <p:extLst>
      <p:ext uri="{BB962C8B-B14F-4D97-AF65-F5344CB8AC3E}">
        <p14:creationId xmlns:p14="http://schemas.microsoft.com/office/powerpoint/2010/main" val="645521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B3CB5-8D5A-43B2-B4E6-4577C4F1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4F84E-98DB-4457-BF1C-99D98FFB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2AB53-C3DC-4613-8AC6-1DC82E8A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4E77-B6A3-4B00-B0CC-A2D0B23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PROBLEM    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9B932-C92F-4C22-89B4-8F8D6C0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87AE-F2B4-4EEA-8E99-494B64A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Today, tracking volunteer hours is painful.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ABD87-C0E0-4B10-AE78-4EE1253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Students juggle five tools to do one job — and lose hours to the cracks between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66CA7-61ED-42C0-A25F-197AA7D9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1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5BFEF-31B0-46B8-B573-49DC9ED8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87171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4652-3A87-436B-95F2-D65B4E82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7185"/>
                </a:solidFill>
              </a:defRPr>
            </a:pPr>
            <a:r>
              <a:rPr sz="1650" b="1">
                <a:solidFill>
                  <a:srgbClr val="FB7185"/>
                </a:solidFill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19A18-5EA2-41FA-AF0D-233922C1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Sign-in sheets get lost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FCC0E-79BC-49D3-A364-607E5E67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47950"/>
            <a:ext cx="3981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Paper sign-ins disappear in backpacks. Supervisors misfile emails. Hours vanish.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14415-BAC5-4819-99D0-93D9BD8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57400"/>
            <a:ext cx="501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DC648-8C2A-40E9-819C-BC281548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87171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0BFFE-BF20-4D03-94DE-8C02AD0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7185"/>
                </a:solidFill>
              </a:defRPr>
            </a:pPr>
            <a:r>
              <a:rPr sz="1650" b="1">
                <a:solidFill>
                  <a:srgbClr val="FB7185"/>
                </a:solidFill>
              </a:rPr>
              <a:t>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CF459-8A65-489F-A791-FE7376CC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Spreadsheets are fragile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FD522-27D8-44FE-97BC-44FE273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3981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Manual totals, broken formulas, and no proof of work when colleges ask.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5DFBE-B83B-483A-B801-FB76642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01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C6730-32BD-4F1D-B0D5-F91C5363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87171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D62DC-D3E4-4A48-B7C3-6179D37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7185"/>
                </a:solidFill>
              </a:defRPr>
            </a:pPr>
            <a:r>
              <a:rPr sz="1650" b="1">
                <a:solidFill>
                  <a:srgbClr val="FB7185"/>
                </a:solidFill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530FA-279A-45C1-924C-F40C38C0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School portals lock you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F0B2E-6E8F-4017-B98B-DA120EC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3981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Once you graduate, the records you need are owned by someone else's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66025-9E8A-44D2-9ABD-F8C9936C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24300"/>
            <a:ext cx="50101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470F7-2CBB-40FC-AFFB-85CE97B4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87171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412CA-2D55-4FDD-905E-4AAC244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B7185"/>
                </a:solidFill>
              </a:defRPr>
            </a:pPr>
            <a:r>
              <a:rPr sz="1650" b="1">
                <a:solidFill>
                  <a:srgbClr val="FB7185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F94CB-E042-4F8A-96EC-D2C857A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Notifications live in 4 apps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5B0E2-8C96-44C3-AB13-A71A25E6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3981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Reminder emails, group chats, calendars, and notebooks all carry fragments.</a:t>
            </a:r>
          </a:p>
        </p:txBody>
      </p:sp>
    </p:spTree>
    <p:extLst>
      <p:ext uri="{BB962C8B-B14F-4D97-AF65-F5344CB8AC3E}">
        <p14:creationId xmlns:p14="http://schemas.microsoft.com/office/powerpoint/2010/main" val="1864866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94EA1-A123-4094-8D7D-4A0A221E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E1F15-6D05-4F6D-B686-4276ADAE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E850D-19C2-4683-9296-2F4A476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78C7-883C-4D85-94D7-E0BFC924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OVERVIEW    03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CB18A-7D3B-47C2-A545-4DE6B576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3A773-1349-4A25-9019-8F5601C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One app. Five jobs. No account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07D1-CF0E-41CC-8320-45AA572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VolunTrack replaces the spreadsheet, the reminder email, and the certificate generator — all on the student's own device.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B0E2-66D0-4C5B-8913-BC6F62AC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544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AB2D3-1B23-4990-9D5C-23E0C5C2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57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2DEF6-243A-4ED8-9F2B-6AE4C7F2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F55AF-6D6B-4557-8127-9A0773D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307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Smart hour logging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A9DA4-967D-4B4F-951A-0F873159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Activity, time, location, supervisor, and proof in one form. Paste a sentence and let the AI agent parse the rest.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D0F21-F0A0-45E6-9CC4-6260C99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095500"/>
            <a:ext cx="34544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C7480-3F61-4426-B5B8-20C5F52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286000"/>
            <a:ext cx="57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0FD62-0659-4639-8811-AB13D54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286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037BE-F2A9-4531-A71F-EEC1423E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628900"/>
            <a:ext cx="307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Progress that adds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6AC0E-9103-4644-8A64-7C2FA00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00990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Progress ring, weekly chart, and 12 auto-earning badges make consistency visible without nagging.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637DB-E4B4-482B-B000-D9DE4EB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095500"/>
            <a:ext cx="34544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27D0B-3A2B-4115-B900-11A0C4B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286000"/>
            <a:ext cx="57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0F9A9-D228-4AF3-B52B-3DDBE72C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286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REMIND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6E7C0-D8A7-4926-9A23-08A1889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628900"/>
            <a:ext cx="307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Browser-native nudges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CE4E4-CBED-4CD4-A059-FCC34F7C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009900"/>
            <a:ext cx="307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Daily, weekly, monthly, or one-off reminders with built-in browser notifications — no third-party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9B2C8-BC15-4F1B-B331-1C1F4943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2959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820F0-1D7B-4FBD-91AE-2092066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57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95E19-3B88-4BA3-865B-D7F78293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C3CBB-9A33-40E9-83CF-F7B153A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Reports in one click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47600-1748-473A-9810-BE1784D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PDF service log, CSV export, and a printable certificate ready for college applications.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43039-A3AA-487B-9A95-8AE8607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52959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A337B-2326-4CA0-98AF-565AA360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571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C336FB-F8E4-43DC-B06A-B4642B2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46CB-B03F-47A6-854E-4EDE150A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Your data stays yours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1297D5-CFF1-4301-83B5-C90E2A53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491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Everything lives in localStorage under your account id. Nothing is uploaded; nothing is shared.</a:t>
            </a:r>
          </a:p>
        </p:txBody>
      </p:sp>
    </p:spTree>
    <p:extLst>
      <p:ext uri="{BB962C8B-B14F-4D97-AF65-F5344CB8AC3E}">
        <p14:creationId xmlns:p14="http://schemas.microsoft.com/office/powerpoint/2010/main" val="819238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3F12E-F1DB-488A-960A-FE3CD1B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E0755-4C9D-43D5-9B75-0C5F83A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333B3-5726-4654-B415-B49F5628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B62CE-1C1A-407E-A2EE-560F7CC8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WALKTHROUGH    04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4C4CB-F481-470D-8087-4304F69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81C29-F55C-4A64-8C33-52E643D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Dashboard — progress at a glance.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30080-BB0F-47A9-B1EA-30D106D0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Sign in and the home screen tells the story: how far you've gone, what remains, and what just happened.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A0F90-A15E-466F-BB17-43302AE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429000" cy="438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9D5BC-ABB5-4B92-A3DB-BEBFF25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409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2A1AE-0D92-4D29-BF0D-0CD388BE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F5F4"/>
                </a:solidFill>
              </a:defRPr>
            </a:pPr>
            <a:r>
              <a:rPr sz="900" b="1">
                <a:solidFill>
                  <a:srgbClr val="F5F5F4"/>
                </a:solidFill>
              </a:rPr>
              <a:t>Hi, Alex 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84F81-4975-4439-9247-E9BEEC3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2435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1FD0C-0D7D-4FD2-8DEC-F786A33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1066800" cy="1066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3F83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09746-12C6-457C-8FC7-031E550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813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4"/>
                </a:solidFill>
              </a:defRPr>
            </a:pPr>
            <a:r>
              <a:rPr sz="1650" b="1">
                <a:solidFill>
                  <a:srgbClr val="F5F5F4"/>
                </a:solidFill>
              </a:rPr>
              <a:t>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3A009-77AF-41C6-8E7D-EBA88F0D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990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FA89C-863A-45A1-AA07-64A79C53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5F4"/>
                </a:solidFill>
              </a:defRPr>
            </a:pPr>
            <a:r>
              <a:rPr sz="1050" b="1">
                <a:solidFill>
                  <a:srgbClr val="F5F5F4"/>
                </a:solidFill>
              </a:rPr>
              <a:t>32.5h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ACEFB-6DB2-4498-9CB1-C9C29867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994"/>
                </a:solidFill>
              </a:defRPr>
            </a:pPr>
            <a:r>
              <a:rPr sz="675" b="1">
                <a:solidFill>
                  <a:srgbClr val="8A9994"/>
                </a:solidFill>
              </a:rPr>
              <a:t>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EB549-9128-44F6-BFEF-66F9AE3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33800"/>
            <a:ext cx="990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335A6-CE3A-460F-9B99-E1430103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5F4"/>
                </a:solidFill>
              </a:defRPr>
            </a:pPr>
            <a:r>
              <a:rPr sz="1050" b="1">
                <a:solidFill>
                  <a:srgbClr val="F5F5F4"/>
                </a:solidFill>
              </a:rPr>
              <a:t>8.0h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6D78E-5456-40B2-AF94-2900052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994"/>
                </a:solidFill>
              </a:defRPr>
            </a:pPr>
            <a:r>
              <a:rPr sz="675" b="1">
                <a:solidFill>
                  <a:srgbClr val="8A9994"/>
                </a:solidFill>
              </a:rPr>
              <a:t>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508DD-D339-423C-8FE6-A686A743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990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B132E-2BB2-4A98-8BA7-CADEF65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100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5F4"/>
                </a:solidFill>
              </a:defRPr>
            </a:pPr>
            <a:r>
              <a:rPr sz="1050" b="1">
                <a:solidFill>
                  <a:srgbClr val="F5F5F4"/>
                </a:solidFill>
              </a:rPr>
              <a:t>6/12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AF007-CCEA-472A-9BD3-58DD74AF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994"/>
                </a:solidFill>
              </a:defRPr>
            </a:pPr>
            <a:r>
              <a:rPr sz="675" b="1">
                <a:solidFill>
                  <a:srgbClr val="8A9994"/>
                </a:solidFill>
              </a:rPr>
              <a:t>BADGES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4E413-68C3-413A-B2B4-55BB59C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3124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BCB3E-9C71-4A19-A0D5-16CFD50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7555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E507E-03DA-49B0-919E-80594B13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07" y="4933950"/>
            <a:ext cx="37555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3905F-6AEE-4C16-8CB7-65798BC7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814" y="4724400"/>
            <a:ext cx="37555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04DCF-D484-4F69-973A-8E8D7CE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521" y="4800600"/>
            <a:ext cx="37555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3FE49-9B1C-45D2-98B5-D91D4EDB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29" y="4648200"/>
            <a:ext cx="37555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71418-1414-4DE0-A10A-1903A9C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36" y="4953000"/>
            <a:ext cx="37555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6779FE-C0FB-4B2D-A4B8-FD283CF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643" y="4781550"/>
            <a:ext cx="37555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358E0-57CE-4911-B9CE-F6210475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994"/>
                </a:solidFill>
              </a:defRPr>
            </a:pPr>
            <a:r>
              <a:rPr sz="675" b="1">
                <a:solidFill>
                  <a:srgbClr val="8A9994"/>
                </a:solidFill>
              </a:rPr>
              <a:t>THIS WEEK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59E971-C7ED-4AB7-80CD-6B8425D5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312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3CA9C-42FE-4C3A-910A-27278DED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2971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8A9994"/>
                </a:solidFill>
              </a:defRPr>
            </a:pPr>
            <a:r>
              <a:rPr sz="675" b="1">
                <a:solidFill>
                  <a:srgbClr val="8A9994"/>
                </a:solidFill>
              </a:rPr>
              <a:t>RECENT ACTIVITY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8EC430-4E00-400C-BDB0-B23DF31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BD5D1"/>
                </a:solidFill>
              </a:defRPr>
            </a:pPr>
            <a:r>
              <a:rPr sz="825">
                <a:solidFill>
                  <a:srgbClr val="CBD5D1"/>
                </a:solidFill>
              </a:rPr>
              <a:t>Park cleanup · 2.5h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864221-86C3-480A-9E54-640A511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BD5D1"/>
                </a:solidFill>
              </a:defRPr>
            </a:pPr>
            <a:r>
              <a:rPr sz="825">
                <a:solidFill>
                  <a:srgbClr val="CBD5D1"/>
                </a:solidFill>
              </a:rPr>
              <a:t>Food bank · 3h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82C88C-E66E-4100-95F7-F66BDBF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2971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BD5D1"/>
                </a:solidFill>
              </a:defRPr>
            </a:pPr>
            <a:r>
              <a:rPr sz="825">
                <a:solidFill>
                  <a:srgbClr val="CBD5D1"/>
                </a:solidFill>
              </a:rPr>
              <a:t>Math tutoring · 1.5h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5A7B2-F518-4F4C-A828-4ABD619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165DDD-E071-447F-82DD-3967E18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8344"/>
                </a:solidFill>
              </a:defRPr>
            </a:pPr>
            <a:r>
              <a:rPr sz="1050" b="1">
                <a:solidFill>
                  <a:srgbClr val="3F8344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CD56DA-BC95-4CEF-AA9F-7B04091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05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Progress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DC4B0-DB94-402B-82A4-1E4C367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A live percentage of your primary goal — no math required.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04BBAE-A222-4AF5-822D-E94527A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D68B28-7D7A-47EF-81E0-9740F65E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8344"/>
                </a:solidFill>
              </a:defRPr>
            </a:pPr>
            <a:r>
              <a:rPr sz="1050" b="1">
                <a:solidFill>
                  <a:srgbClr val="3F8344"/>
                </a:solidFill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062BDE-E1C5-4C12-BD3F-EFC62E4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194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Weekly bar chart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E12AD-8CEB-4D66-974D-3A02E44A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242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Seven days of activity to keep momentum visible.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5263F5-C01E-4538-8AAB-BB4DF3A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DE0CC7-315D-4928-A308-47D3607E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8344"/>
                </a:solidFill>
              </a:defRPr>
            </a:pPr>
            <a:r>
              <a:rPr sz="1050" b="1">
                <a:solidFill>
                  <a:srgbClr val="3F8344"/>
                </a:solidFill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EC4D5C-6FA8-4FEF-8EED-D643824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Recent activity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E5E11-F51D-4033-9B32-1D48154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The last five sessions, with category chips for quick scanning.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83A97-3149-403B-881F-9D844AE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7BF5E1-572C-4209-9BF4-F270A2DC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8344"/>
                </a:solidFill>
              </a:defRPr>
            </a:pPr>
            <a:r>
              <a:rPr sz="1050" b="1">
                <a:solidFill>
                  <a:srgbClr val="3F8344"/>
                </a:solidFill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8CBB81-D6D1-4032-A54B-855A67A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48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5F4"/>
                </a:solidFill>
              </a:defRPr>
            </a:pPr>
            <a:r>
              <a:rPr sz="1350" b="1">
                <a:solidFill>
                  <a:srgbClr val="F5F5F4"/>
                </a:solidFill>
              </a:rPr>
              <a:t>This-month stat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3EA7E9-E7DE-4399-9908-4411F23F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5300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BD5D1"/>
                </a:solidFill>
              </a:defRPr>
            </a:pPr>
            <a:r>
              <a:rPr sz="1050">
                <a:solidFill>
                  <a:srgbClr val="CBD5D1"/>
                </a:solidFill>
              </a:rPr>
              <a:t>A separate counter for the current calendar month.</a:t>
            </a:r>
          </a:p>
        </p:txBody>
      </p:sp>
    </p:spTree>
    <p:extLst>
      <p:ext uri="{BB962C8B-B14F-4D97-AF65-F5344CB8AC3E}">
        <p14:creationId xmlns:p14="http://schemas.microsoft.com/office/powerpoint/2010/main" val="2022465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493834-D7F8-45E9-955F-4FFDD287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D04D-60BC-4D65-87E6-9117470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60900-53A5-4BF5-9535-987FA08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D2A7D-9C77-4B74-9354-303649E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WALKTHROUGH    05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65725-B771-4813-A4CA-782690E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E1EA-E631-4038-9D99-5491E0CC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Logging hours — fast, structured, verifiable.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C04BD-3872-4665-9D94-C409751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The Log Hours page is built to capture everything a school might ask for, in under a minute.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80C6B-0339-487E-902F-62DDF444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524500" cy="4381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05787-F1B6-4F78-9CF0-C7175FFD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LOG VOLUNTEER HOURS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B09EB-519B-44F6-9831-D5377C4F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75E6-8F7A-45F2-9094-6CBC513D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Park cleanup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C35F0-6875-41DA-8F49-6DAEF73F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3B978-EFE9-481E-84D0-C66573FD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CATEGORY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34CCC-4485-433B-9E89-1CC2C4F2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Environmental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9BD6F-6680-4AFC-8401-06C720F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85411-F560-4F28-A929-E7A70D8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27F43-6AFD-41E9-A7DC-AC0E7B9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Today · Jun 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A5F77-61B2-4E2F-887D-404C2E63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27BC7-85C2-4F53-832E-FB1B7FE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START → 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17112-1281-4BF6-B441-8665BEBB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09:00 → 11:30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9408F-91C1-4FF6-9023-13C527F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848CD-58FB-4048-B360-9333525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DURATION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884E5-51F0-4A41-A524-4B47150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2.5h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C5CC2-3B02-4FF9-BE41-6ECDEDC5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AB624-9958-477E-935F-3A3A2B65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LOCATION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7E54C-2928-4727-B063-7774DFC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Riverside Park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08D99-5B20-4F61-B669-87470965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A2726-7B60-4270-BB7B-21948E3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SUPERVISOR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F801F-C14A-4E1F-9406-F0C9C517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Maria Chen · m.chen@parks.org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5FDFF-1D90-467F-B7C6-FF54BA7A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506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E0E58-7859-4CE6-BDB6-9D2ABA6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4953000" cy="2095500"/>
          </a:xfrm>
          <a:prstGeom xmlns:a="http://schemas.openxmlformats.org/drawingml/2006/main" prst="roundRect">
            <a:avLst>
              <a:gd name="adj" fmla="val 7273"/>
            </a:avLst>
          </a:prstGeom>
          <a:gradFill xmlns:a="http://schemas.openxmlformats.org/drawingml/2006/main">
            <a:gsLst>
              <a:gs pos="0">
                <a:srgbClr val="214327"/>
              </a:gs>
              <a:gs pos="100000">
                <a:srgbClr val="0F1A14"/>
              </a:gs>
            </a:gsLst>
            <a:lin ang="8100000"/>
          </a:gradFill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439C60-D324-49B0-8952-E873C477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7239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AE4F1-EA8D-43A2-9C5D-136CC1A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PER-USER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60EEC-0E09-4E22-A884-62E19C2D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4"/>
                </a:solidFill>
              </a:defRPr>
            </a:pPr>
            <a:r>
              <a:rPr sz="1650" b="1">
                <a:solidFill>
                  <a:srgbClr val="F5F5F4"/>
                </a:solidFill>
              </a:rPr>
              <a:t>Smart Log Generator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E1644D-A55A-422C-907D-8683B9E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Type "helped at shelter 3 hours" — the on-device agent drafts a full log entry. Nothing leaves the browser, and only your account can see the suggestion.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20C373-DAF6-4492-9E5F-80EE0B0B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14001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2000"/>
            </a:srgbClr>
          </a:solidFill>
          <a:ln xmlns:a="http://schemas.openxmlformats.org/drawingml/2006/main" w="9525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B79D8D-3C04-49FD-B1F3-BF454C0A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8BDF8"/>
                </a:solidFill>
              </a:defRPr>
            </a:pPr>
            <a:r>
              <a:rPr sz="825">
                <a:solidFill>
                  <a:srgbClr val="38BDF8"/>
                </a:solidFill>
              </a:rPr>
              <a:t>No server-side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120C5D-0737-44CF-9363-503FB573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29100"/>
            <a:ext cx="12668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2000"/>
            </a:srgbClr>
          </a:solidFill>
          <a:ln xmlns:a="http://schemas.openxmlformats.org/drawingml/2006/main" w="9525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4CA4C0-11B5-4F37-AA90-8343719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29100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8BDF8"/>
                </a:solidFill>
              </a:defRPr>
            </a:pPr>
            <a:r>
              <a:rPr sz="825">
                <a:solidFill>
                  <a:srgbClr val="38BDF8"/>
                </a:solidFill>
              </a:rPr>
              <a:t>Per-user memory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05439-A9C9-40D7-946E-5A6C7F2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29100"/>
            <a:ext cx="14001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2000"/>
            </a:srgbClr>
          </a:solidFill>
          <a:ln xmlns:a="http://schemas.openxmlformats.org/drawingml/2006/main" w="9525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0F635-ACC6-4C27-A750-C17168F1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2910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8BDF8"/>
                </a:solidFill>
              </a:defRPr>
            </a:pPr>
            <a:r>
              <a:rPr sz="825">
                <a:solidFill>
                  <a:srgbClr val="38BDF8"/>
                </a:solidFill>
              </a:rPr>
              <a:t>localStorage only</a:t>
            </a:r>
          </a:p>
        </p:txBody>
      </p:sp>
    </p:spTree>
    <p:extLst>
      <p:ext uri="{BB962C8B-B14F-4D97-AF65-F5344CB8AC3E}">
        <p14:creationId xmlns:p14="http://schemas.microsoft.com/office/powerpoint/2010/main" val="319557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D7FC0-C9ED-44E4-886D-15F8951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B1426-10CF-41AC-8F36-7F64D2FF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55AF6-63C7-4B34-83FC-FC5767A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3CF8C-B41F-4044-8CB0-A6CE081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WALKTHROUGH    06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5B529-C56F-41FA-838D-E7C5AB16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035AD-F6A0-433C-A23D-209B0222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The rest of the loop, designed to stay out of the 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AB375-B9AE-4FA2-B9F9-7219B836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Calendar for scanning, Achievements for sticking with it, Reports for the moment you have to prove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088D3-5FC0-4552-8EBB-3A1D3F3A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1FC0B-609F-441C-9AF6-BB92850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1496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BB053-8230-4F85-8AF4-A3A7FAC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92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JUNE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4E043-D18D-4A88-9EED-4F2B924A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3C3F3-0A52-4FBF-A0AF-5572A3A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BFF2E-BD41-406D-8679-8EC82160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DC965-54C8-4D0E-A68A-861E954E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58E29-0F63-4148-83C0-8990A31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E30A6-BF13-49CA-955D-5FBE7A68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EEA67-9FE2-43AB-B933-79B0F544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5C17D-B926-4EBF-AD46-491FADB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B1F3E-F580-47FF-ABBC-5B6ECC6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09E05-50E7-4821-B1D8-FA61A9DB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16DA2-9C16-4DD4-84DA-2B2BC38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11366-F58F-41EA-BBC7-C9BC7C3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9DFEF-E6A1-40BD-B6C3-15D5DC6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23622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31116-5243-4F2F-AF7E-2FB5FE5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23812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6F83A-5A0E-4F89-BA25-91A15FD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0C5DF-38A8-486A-B430-BDF733F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BE66-E8C4-45BA-BB98-7698B19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943C9-F609-4A07-A068-8352CF3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C4C6D-CDE9-44FD-81D4-5658D564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7624D-0F01-4C7E-9C1A-82297410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6BDA4-6AEE-4814-9E9D-D8030A2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45846-4EDA-48DA-94E7-2E87C310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19982-A0C3-427B-A187-9AF33EE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BF2CF-54D3-4965-A86C-D19C955E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1A609F-863A-4EC6-B4C1-26021F4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094BBC-FA4A-4E15-A258-C3D69932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23D8C-8D43-43CB-82B0-C30BB4C2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25717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99410-A091-4897-98FE-E454F59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25908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66D055-2D97-4003-919F-02F00340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374BCA-9962-4E72-9B95-B2377DB9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73CC9C-F0CB-42DA-AE5D-923B9D0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A41186-7CEE-49DE-9FFC-6DE1F0D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2DCF8C-6F79-4A98-B46F-C4A390CE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B951E5-06DC-4CF2-9B85-BD76C89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8CBF2B-514F-4FB7-AE52-6B3FEB31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FAA740-F4BD-4AF4-88C8-AA1C2D0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18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F902F2-A1B0-4C92-9D2C-F22FF39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928383-98ED-4B61-AB5B-BA36C081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C500A1-34AE-43E0-8F04-C7FC668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A57B81-5262-4001-94BD-1B6BE7E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132680-C1D0-4773-9599-40CD9CA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27813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B41B63-3017-470C-BA0E-842B19BA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28003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3F2951-8F0B-4A63-B8D8-2523FA77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14288">
            <a:solidFill>
              <a:srgbClr val="3F834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1E24AE-CFC0-437B-95F5-744F0CF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22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6C5D86-8539-4331-BE14-9D821614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A4C4EA-15C2-47E9-8196-5080E92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151890-53D4-49CB-979C-A4F4F17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88FB6F-999F-4B03-BF9F-F571E6AB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18CE06-6B5C-4ED5-89BE-3814819A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892397-CCBD-48FE-BC2C-E008BEC2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4B9B5E-C621-4250-8CA9-79C03E58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CE80C7-1578-4D5A-ACDD-A410B3EC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1B1AF0-E397-43C5-8461-A74B4399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20AF4C-7350-4128-BC1C-65C16E2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44657F-55A0-415D-B2EE-2174CB16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29908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862138-2AEC-4696-8456-829AB4D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30099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F36AF5-F046-4EA4-A47F-3B81BA6C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153073-0FAE-48D8-AEDD-F4569D6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29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3B0E83F-F900-4FCE-B1B6-5755D715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8344">
              <a:alpha val="30000"/>
            </a:srgbClr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4B8E7F4-3F65-41F5-B838-CF67830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1F8F1"/>
                </a:solidFill>
              </a:defRPr>
            </a:pPr>
            <a:r>
              <a:rPr sz="675" b="1">
                <a:solidFill>
                  <a:srgbClr val="F1F8F1"/>
                </a:solidFill>
              </a:rPr>
              <a:t>30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00767-ED99-48D6-81F6-8DE83D0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55DF65-2C06-47AE-925F-511C1CCE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696B1D-5034-487C-A1FC-AE429E89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DEAA8EF-9820-40E2-94B3-68ED8862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92D103-A20D-4B9B-86C9-FFC3C65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1A88834-09AA-4310-ABA3-5C6BF548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AA08F7-0829-4C48-A71F-7CE2B25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1C0E6E-EAC4-4E37-9610-B13C6245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34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DE09951-8C82-4E60-A076-A924BCCA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320040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07D372-9E73-40EA-BF6E-2A16C9D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321945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4CA90C-10DD-47F1-92B4-A035FEF8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535EDF-CF68-4202-8825-6F432B8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2C7838B-1779-45A7-8FFD-EB2E0D6E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29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AEE244-A41E-4EFF-BC06-9CFB443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29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C534ACB-2061-4022-972F-BCE5640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957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29EF2E-090E-426B-BC2A-824E330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057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38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7CA405-DDB6-49B9-8AB6-4CF38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686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8B24BB-EAB3-4502-A235-BCCAC7C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786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39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51565BD-EBD3-4E47-8D2C-A12BA91A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14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6726CF-6022-4685-A4D6-0A57E665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514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40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277940-FCDE-4918-98B0-21A60A13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143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7222E71-3E07-4878-A35B-48CA490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43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41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D20E968-4A1D-4111-9F45-56DB84E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871" y="3409950"/>
            <a:ext cx="384629" cy="171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9FF4E1-686E-4D07-89D8-2686023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3429000"/>
            <a:ext cx="327479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CBD5D1"/>
                </a:solidFill>
              </a:defRPr>
            </a:pPr>
            <a:r>
              <a:rPr sz="675" b="0">
                <a:solidFill>
                  <a:srgbClr val="CBD5D1"/>
                </a:solidFill>
              </a:rPr>
              <a:t>42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0016ED-B905-419D-B0E0-F25A9660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5F4"/>
                </a:solidFill>
              </a:defRPr>
            </a:pPr>
            <a:r>
              <a:rPr sz="1275" b="1">
                <a:solidFill>
                  <a:srgbClr val="F5F5F4"/>
                </a:solidFill>
              </a:rPr>
              <a:t>Calendar view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500292-4892-4545-867E-0E49952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3149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Month-at-a-glance with hours-per-day pills. Tap a date for the full session log.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D76CAF-AB74-415B-B8EA-75E1B6A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9050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962EA04-50A0-4C1D-969F-F46933C9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057400"/>
            <a:ext cx="31496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CD83D9-F9D9-4069-8D56-B02DF3C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133600"/>
            <a:ext cx="292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6 OF 12 EARNED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0F099B-A181-49D9-902C-F5BE852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3622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3D720F4-2288-4F1B-ACB6-3FD4EA5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683" y="2457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333777-4D8F-41D4-A8E4-BA4160F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7051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F5F4"/>
                </a:solidFill>
              </a:defRPr>
            </a:pPr>
            <a:r>
              <a:rPr sz="750" b="1">
                <a:solidFill>
                  <a:srgbClr val="F5F5F4"/>
                </a:solidFill>
              </a:rPr>
              <a:t>First Hour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EB7A84-0019-42F4-AD52-A28DD77D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567" y="23622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>
              <a:alpha val="20000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EF74D4-132E-4173-8E5A-25D11CD7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9F8040-F384-4A06-89D4-A6D86A56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667" y="27051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F5F4"/>
                </a:solidFill>
              </a:defRPr>
            </a:pPr>
            <a:r>
              <a:rPr sz="750" b="1">
                <a:solidFill>
                  <a:srgbClr val="F5F5F4"/>
                </a:solidFill>
              </a:rPr>
              <a:t>Streak 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FB5F8F-2204-4872-9390-678B409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633" y="23622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8BDF8">
              <a:alpha val="20000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924FBF-F4B9-48DD-ACEF-A081299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817" y="2457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82FBF86-A6B5-402F-BC39-5390CA9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733" y="27051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F5F4"/>
                </a:solidFill>
              </a:defRPr>
            </a:pPr>
            <a:r>
              <a:rPr sz="750" b="1">
                <a:solidFill>
                  <a:srgbClr val="F5F5F4"/>
                </a:solidFill>
              </a:rPr>
              <a:t>10 Hours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EEE965B-8281-4D91-AF97-6B708AFE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0480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003ADA2-42F1-46DE-A8F4-299D86D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683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10F4DE6-4BEF-4A1A-96A4-1F26C37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3909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50 Hours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AFA9EE-6CEE-4E69-930C-0D56653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567" y="30480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05A3A5F-ACC7-45EB-9FFD-95EC030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27CF04-0D83-43C5-A553-FD98A300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667" y="33909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Hero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E92B93-A05C-4ACC-9818-1AB4F0F9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3633" y="3048000"/>
            <a:ext cx="922867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3BAD698-A129-4D66-B8A7-6BD2332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817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BC65E0-6322-4EEE-9507-283501E2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733" y="3390900"/>
            <a:ext cx="84666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F5F4"/>
                </a:solidFill>
              </a:defRPr>
            </a:pPr>
            <a:r>
              <a:rPr sz="750" b="1">
                <a:solidFill>
                  <a:srgbClr val="F5F5F4"/>
                </a:solidFill>
              </a:rPr>
              <a:t>Explorer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831C8D1-9D0A-484F-8299-6DFCA104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114800"/>
            <a:ext cx="314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5F4"/>
                </a:solidFill>
              </a:defRPr>
            </a:pPr>
            <a:r>
              <a:rPr sz="1275" b="1">
                <a:solidFill>
                  <a:srgbClr val="F5F5F4"/>
                </a:solidFill>
              </a:rPr>
              <a:t>Achievements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5771991-6177-4DC2-B6CB-123F02DF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419600"/>
            <a:ext cx="3149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12 auto-earning badges across streaks, milestones, categories, and weekends.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EAC782-E8C4-4761-8204-9A6E6D2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9050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B00BF08-7DE4-402E-BABE-2B59D2C3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057400"/>
            <a:ext cx="31496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D3167FF-B694-4890-B6B7-30DEF790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133600"/>
            <a:ext cx="292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VOLUNTEER SERVICE LOG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D3EC14E-59F1-4B5E-A1A5-50D320E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628900"/>
            <a:ext cx="292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FB129AB-825C-4510-9EC3-F2E62B5A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4384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Jun 22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45098C4-5CC6-4B8D-A5A3-52439736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438400"/>
            <a:ext cx="191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Beach cleanup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AB4B800-DCA9-4D1E-9F47-8CEA1286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384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Envir.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C5608C-794B-4C64-A56F-AB3E282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38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3h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60F2B12-5600-42C4-8402-70026919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14650"/>
            <a:ext cx="292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93CDBD7-ED4E-4145-9BC7-373A3AC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Jun 18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A76C051-0E20-41CF-8391-F1DE50E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724150"/>
            <a:ext cx="191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Youth basketball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B598B6-EFA6-4420-B69A-D20C8CB3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Sports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031BDE6-923F-4188-BB44-82CCC932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2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1.5h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31BB120-13B4-41A0-9047-485F7FD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200400"/>
            <a:ext cx="292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1856A21-9933-4CFB-91AC-87DC9EF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009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Jun 15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ABB9463-546A-46DD-9B11-9AD7F26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009900"/>
            <a:ext cx="191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Blood drive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2E79C21-E5AB-4DF3-A8B4-475D0DC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09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Health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D562D83-C9F7-445A-AC94-DA838F21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009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5h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4BC00B8-834F-4715-B91D-F749D4E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486150"/>
            <a:ext cx="292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7004626-361B-4563-A51B-90F915A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295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Jun 11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AB7D6D6-3879-4B83-AC2E-63F48C1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295650"/>
            <a:ext cx="191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Community garden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405DEBE-98C0-47A8-A808-A6C2033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956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CBD5D1"/>
                </a:solidFill>
              </a:defRPr>
            </a:pPr>
            <a:r>
              <a:rPr sz="750" b="0">
                <a:solidFill>
                  <a:srgbClr val="CBD5D1"/>
                </a:solidFill>
              </a:rPr>
              <a:t>Envir.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3EB5CBF-C952-4351-903A-DDFEAD8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95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4h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B0283DA-93B4-4F2D-9556-E637A7C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3752850"/>
            <a:ext cx="292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TOTAL  ·  32.5h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FABC904-F721-40E5-A2BA-42BCA38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114800"/>
            <a:ext cx="314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5F4"/>
                </a:solidFill>
              </a:defRPr>
            </a:pPr>
            <a:r>
              <a:rPr sz="1275" b="1">
                <a:solidFill>
                  <a:srgbClr val="F5F5F4"/>
                </a:solidFill>
              </a:rPr>
              <a:t>Reports &amp; certificate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CD998C-C0A8-49DD-9522-6D60E78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419600"/>
            <a:ext cx="3149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PDF service log, CSV export, and a printable certificate — one button each.</a:t>
            </a:r>
          </a:p>
        </p:txBody>
      </p:sp>
    </p:spTree>
    <p:extLst>
      <p:ext uri="{BB962C8B-B14F-4D97-AF65-F5344CB8AC3E}">
        <p14:creationId xmlns:p14="http://schemas.microsoft.com/office/powerpoint/2010/main" val="866473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5D194-0D51-446E-BB0F-82A39F8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B3F8D-0E20-45F9-B0A2-81B20C6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BDC0-45E7-4049-BFC8-CDB45D79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C88A8-F1F9-4FBF-B834-6E98F4CE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ROADMAP    07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D3DCC-EF53-43D0-A58D-F216A3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9A201-A200-4D30-BE5C-331253CF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Where VolunTrack is headed.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2DEDF-5A8D-48BF-81F9-D63F78B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From core launch to certificates, premium tools, and paying school partners — the roadmap is already in motion.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F9B21-C126-4BCE-A672-FF39928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8C0D-B785-4EB5-B0B9-C38CA65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05025"/>
            <a:ext cx="343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8EC53-F571-4F63-A301-363CBA8C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99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PHASE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2C3BA-CD7A-4B04-916C-2B7711B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99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4"/>
                </a:solidFill>
              </a:defRPr>
            </a:pPr>
            <a:r>
              <a:rPr sz="2100" b="1">
                <a:solidFill>
                  <a:srgbClr val="F5F5F4"/>
                </a:solidFill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C8D1D-1AA6-4A11-BEA2-8F4404DE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876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20000"/>
            </a:srgbClr>
          </a:solidFill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BD887-85EC-460E-87C2-10C6A9FD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SHIPPED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58133-2AA4-4FEA-A2F6-D35A600E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BFF49-D167-4F88-B270-9344694F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6F296-86E6-462A-B233-34BA8E4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Finish VolunTrack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B44F5-999C-410D-A7E7-57A277B2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915F7-9F47-495C-BD3E-3EDBA7B5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BC9A6-0CD5-413B-87FB-430BA8DE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Deploy to GitHub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8EE37-B622-4152-8C97-D49AC956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3D7A8-8D2C-45E4-8402-143924D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C30DD-712C-4A76-B4C4-08C1A7A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Get first 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82D71-DEDE-4AF9-857E-D344A948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0955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5FB7A-3ED1-443D-8FF2-278B02BC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325" y="2105025"/>
            <a:ext cx="343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32CEB-764D-4987-9A69-9157584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324100"/>
            <a:ext cx="299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PHASE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03A70-05BE-4762-9303-15B6C543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52700"/>
            <a:ext cx="299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4"/>
                </a:solidFill>
              </a:defRPr>
            </a:pPr>
            <a:r>
              <a:rPr sz="2100" b="1">
                <a:solidFill>
                  <a:srgbClr val="F5F5F4"/>
                </a:solidFill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D839F-82FE-46ED-B201-5E0754BA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009900"/>
            <a:ext cx="876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20000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E17F9-4134-495A-8A2D-69BF83F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009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SHIPPED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227ED-EC2E-47D1-86B7-9B15DD6E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3FCAE-E1BF-41F1-A4EE-5285C86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4861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776B0-319F-43E9-BEE0-DC286A74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4671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Printable certificates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C6B01-65D4-4817-8CF0-E2CB45DA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C6AC9-59EE-4781-B24A-7013F5B6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8481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DC18CD-76F8-4E5B-9877-2983E7B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382905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Premium feature hooks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A7814D-F1BD-45B4-A91D-A03F5F32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76BD45-2D29-42AC-84D0-DC78B6E6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10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103DA3-8B2D-46F6-9AF4-1B62E512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41910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Email-based PIN &amp; password reset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2FDE6-C016-40A3-A0EC-3434AA4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095500"/>
            <a:ext cx="3454400" cy="36195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7430DD-C121-4D57-8449-59436B0A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25" y="2105025"/>
            <a:ext cx="3435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F7F53D-B5DB-4098-A159-38E74DBC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324100"/>
            <a:ext cx="299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8BDF8"/>
                </a:solidFill>
              </a:defRPr>
            </a:pPr>
            <a:r>
              <a:rPr sz="750" b="1">
                <a:solidFill>
                  <a:srgbClr val="38BDF8"/>
                </a:solidFill>
              </a:rPr>
              <a:t>PHASE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BAD58-C1B2-4529-9B17-01FA233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552700"/>
            <a:ext cx="299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4"/>
                </a:solidFill>
              </a:defRPr>
            </a:pPr>
            <a:r>
              <a:rPr sz="2100" b="1">
                <a:solidFill>
                  <a:srgbClr val="F5F5F4"/>
                </a:solidFill>
              </a:rPr>
              <a:t>Later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57DB5A-B213-4550-9818-C71BE636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009900"/>
            <a:ext cx="8763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20000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D4631E-CF87-48B3-949A-7A660214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009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8BDF8"/>
                </a:solidFill>
              </a:defRPr>
            </a:pPr>
            <a:r>
              <a:rPr sz="750" b="1">
                <a:solidFill>
                  <a:srgbClr val="38BDF8"/>
                </a:solidFill>
              </a:rPr>
              <a:t>ON TRACK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3D9388-03D1-453B-913F-23F03AFC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7C41DE-9BBD-499E-B0D0-FE2DDB0B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4861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4EF8D6-5154-4995-A35A-24AB0C3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4671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School &amp; organization plans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B23C9-DB48-4751-A255-F7B5EA15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65389A-BBA1-4962-844D-A8F66224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8481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5DF3AF-C176-4609-B181-1598490E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82905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Verified supervisor 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BD0B0F-2191-4DCB-8C73-9721319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818252-6C79-45FF-B9B5-885FB4E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2100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3F2785-EDFE-498B-9B95-45B9EE4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191000"/>
            <a:ext cx="276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5F4"/>
                </a:solidFill>
              </a:defRPr>
            </a:pPr>
            <a:r>
              <a:rPr sz="1050">
                <a:solidFill>
                  <a:srgbClr val="F5F5F4"/>
                </a:solidFill>
              </a:rPr>
              <a:t>Bulk CSV import</a:t>
            </a:r>
          </a:p>
        </p:txBody>
      </p:sp>
    </p:spTree>
    <p:extLst>
      <p:ext uri="{BB962C8B-B14F-4D97-AF65-F5344CB8AC3E}">
        <p14:creationId xmlns:p14="http://schemas.microsoft.com/office/powerpoint/2010/main" val="127166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4C4D7-C0D0-43D2-8D7A-A731D7DD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518F1-BDE0-47FA-8284-A458C22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F1548-549D-482D-AD01-83BE75E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10471-30BE-4C63-A2A9-17D5D2B6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STACK    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F6F88-0D66-4FD6-88B9-035FA96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7A1C2-EF77-461A-B31E-9B21A2D8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A stack that just gets out of the 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EB4F7-91F9-4DBB-82FC-8D5E98D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React + Vite for speed, Tailwind for visual consistency, jsPDF + date-fns for exportable reports. localStorage replaces the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57CEA-B076-4506-AE7A-61444F0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D219C-6829-4E0D-A529-DAAE55A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B9448-26E3-4E30-B56D-5B97DE0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864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WHAT WE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478CB-8F00-4E64-8566-33EFBDBC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F2CB6-FA09-4880-A38A-76D171F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47D91-EC00-4B6B-A86B-0534A01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React 18 · React Router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69927-E6E3-4BB4-96D2-B781D2FE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18BC6-7FFB-4E27-AADC-B2A0A9C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3BEB1-6290-48E9-8E3B-498ED6D4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6E682-CFAC-436B-993D-20C1F94A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Vite 7 with vite-plugin-pwa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821E4-00F8-42EA-8885-65B503C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9A4D8-BAF2-4661-8650-BE938192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Styling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7A088-C295-4042-AB0E-3F526AD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Tailwind CSS 3 (custom brand + earth palettes)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0DFD6-C2A8-4CA8-8F59-7D4FD9C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86DE8-52AA-42B0-AEA2-840EF38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D17E7-20CC-4A64-897F-79E08A11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Icons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9A582-4099-40C1-BB4A-DE49E82F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lucide-react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3C19C-4DF9-4868-B965-358AB29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EF348-2146-4981-A369-05D76E65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FFFA0-3446-4800-8DA2-76DEFA5F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195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date-fns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482D7-D020-4FDF-B52B-DC0BF943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CCE573-2C0C-4AF1-91B8-824F8793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0FEA5-D305-4478-8283-2158C64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Export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56B4D-84A8-4034-BA38-0B8ABF6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052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jsPDF + jspdf-autotable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DAF15-D946-48F2-9D73-D428C5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0EA2A-5C66-48AA-9ACD-9874C207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Analytics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4491FA-6F2F-4884-AAB2-F635AC99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910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@vercel/analytics · @vercel/speed-insights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1851C2-1437-4259-885B-EF7AEAA0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C32D47-3E0A-48A1-BCC3-ED6E35D7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63EF08-BF9A-4ABE-BD30-D4028CD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Persistence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C7E11B-A45F-4620-A356-C66D99E2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Browser localStorage (no server)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5E057C-62F1-4AAF-8AAD-10E7884C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47AF9D-A0E8-4BDD-A244-1CE69D53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Email backend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CD01C9-1732-4213-8389-87BD601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6250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Optional: Express + nodemailer for recovery codes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93081-863E-4041-9AAA-0FDF23D2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CE1341-47AC-4009-A695-DD62D4AD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689566-B711-4144-8449-0D9FB2CE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5F5F4"/>
                </a:solidFill>
              </a:defRPr>
            </a:pPr>
            <a:r>
              <a:rPr sz="975" b="1">
                <a:solidFill>
                  <a:srgbClr val="F5F5F4"/>
                </a:solidFill>
              </a:rPr>
              <a:t>CI / Deploy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F89382-35E2-40A4-A01E-72ACB215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482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GitHub Actions → GitHub Pages</a:t>
            </a:r>
          </a:p>
        </p:txBody>
      </p:sp>
    </p:spTree>
    <p:extLst>
      <p:ext uri="{BB962C8B-B14F-4D97-AF65-F5344CB8AC3E}">
        <p14:creationId xmlns:p14="http://schemas.microsoft.com/office/powerpoint/2010/main" val="261620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64EF8-498D-4308-A4E2-9711B4FE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8FC43-32AD-45E0-8D7F-3FCE6CC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5D750-BC8B-4ABF-890F-5ED9940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5322D-F89E-4081-B241-DEC48467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PRIVACY    09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BE5A-EF1D-4672-BD35-D174B9A4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15DC9-3B53-499C-B63C-62907FD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Your hours, your device, your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0654C-82A9-4E8B-81B7-E777AC2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VolunTrack is local-first. The only "account" is a JSON blob on the student's own device — no server, no telemetry on volunteer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6F4F5-03DD-435B-9A0C-589E871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F3944-71B5-4A37-9928-0B51596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DATA MODEL · LOCALSTORAGE NAMESPACES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ECF-5944-4B62-A3E2-FFE5D692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EB7E1-5798-4850-95D4-355534B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982F0-8082-42DC-8A39-81FD92E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Profile, school, grade, avatar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BC0D1-3EAD-40AC-8157-C8E4AF4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7FE1D-D838-4639-8654-E75354C5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47AE5-018D-4B01-86D5-7D59297F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28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VolunteerLog[] (hours, proof, supervisor)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CB1C8-DE76-4593-833A-243C1AFB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FE122-5CBD-4D34-9A08-D20C4CB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5668-9D61-439B-B710-021BBE7B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67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Goal[] with targetHours + primary flag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1510D-EEE8-40B3-89FB-ADDF5E6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F9B32-7959-426C-9CDB-8F842ACA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voluntrack:achievements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F23C3-7B1E-475C-B6CF-6D41988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05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Earned badge IDs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BCDAD-EAD0-42BA-AA40-D9D73BC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6DA1E-EBB6-40F0-B92E-11B6EE4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voluntrack:reminders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AD549-E230-4CBD-B694-286C8AB6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434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Reminder[] (daily / weekly / monthly / one-off)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AF3BB-6329-4272-A784-66095EA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525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7B6CF-9B0F-4C71-AD9D-DA94AC1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voluntrack:theme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4EBFD-9F17-48BA-9982-9E75E1A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81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Light / dark preference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F0898-5870-46BF-A775-93EC82A3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5334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BB208-CDF0-49AB-A457-CDCB8B72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PER-USER ISOLATION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0F1E6C-3CEC-492F-8641-99006E2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31E252-04D1-4AF8-8D72-0D666B91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0D720D-7DD6-481A-B163-087E9C5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B3EAB-058E-4133-9E37-406FBE68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5F4"/>
                </a:solidFill>
              </a:defRPr>
            </a:pPr>
            <a:r>
              <a:rPr sz="1050" b="1">
                <a:solidFill>
                  <a:srgbClr val="F5F5F4"/>
                </a:solidFill>
              </a:rPr>
              <a:t>Alex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64EB1B-C26D-47E9-BF29-969E8D43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BD5D1"/>
                </a:solidFill>
              </a:defRPr>
            </a:pPr>
            <a:r>
              <a:rPr sz="825">
                <a:solidFill>
                  <a:srgbClr val="CBD5D1"/>
                </a:solidFill>
              </a:rPr>
              <a:t>alex@school.edu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2F298-34BB-48B1-9542-E4DD84F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E426AB-93F3-434A-B283-18A5EFA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logs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C2A7B7-2F65-4B87-93B1-D0BAAB4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FFA319-A315-459A-8B20-D467389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goals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0126C5-BC90-4BB1-A478-67C7471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82E303-487F-4D6F-8E93-C36CB076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reminders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949D7F-6FFE-42D2-97AF-ACF19DC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468794-8D08-4EA5-9F11-6C22D5D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agent memory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625C22-897C-43F2-9A16-0ED6CF4E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13164-6B12-4A35-BC82-E5B15C0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253440-BEAD-4ECF-A24F-7049C65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70F1BE-13A2-44BF-BED6-E8658B10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860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F5F4"/>
                </a:solidFill>
              </a:defRPr>
            </a:pPr>
            <a:r>
              <a:rPr sz="1050" b="1">
                <a:solidFill>
                  <a:srgbClr val="F5F5F4"/>
                </a:solidFill>
              </a:rPr>
              <a:t>Riya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42DDF-0B30-4E43-B56F-6C273DB9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765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BD5D1"/>
                </a:solidFill>
              </a:defRPr>
            </a:pPr>
            <a:r>
              <a:rPr sz="825">
                <a:solidFill>
                  <a:srgbClr val="CBD5D1"/>
                </a:solidFill>
              </a:rPr>
              <a:t>riya@school.edu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18F73E-060A-4E4F-A5C8-D4D4268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EAFDFF-A9CB-4F2F-9819-90F73984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logs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17B6EB-38EB-4F17-A104-FAD0F6B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995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907B4E-410E-4380-BA8A-0390D6E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99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goals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13D173-667D-42E1-9186-DC54CED1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E1125E-2300-467F-B48D-6B808B57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reminders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41F14A-0B98-4B4D-BFB8-B5491005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29050"/>
            <a:ext cx="1981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A8682E-FF2D-44EF-9486-3A57FEC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2905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F8344"/>
                </a:solidFill>
              </a:defRPr>
            </a:pPr>
            <a:r>
              <a:rPr sz="750">
                <a:solidFill>
                  <a:srgbClr val="3F8344"/>
                </a:solidFill>
              </a:rPr>
              <a:t>agent memory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5F4558-543E-42BA-BF7E-878542FA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F01C6B-4EC4-40A7-9C84-0103D65C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B7185"/>
                </a:solidFill>
              </a:defRPr>
            </a:pPr>
            <a:r>
              <a:rPr sz="1500" b="1">
                <a:solidFill>
                  <a:srgbClr val="FB7185"/>
                </a:solidFill>
              </a:rPr>
              <a:t>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B74D99-712C-4114-8B5D-1C0FEB8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487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No shared memory. No cross-user access. The agent only ever reads the signed-in user's localStorage scope.</a:t>
            </a:r>
          </a:p>
        </p:txBody>
      </p:sp>
    </p:spTree>
    <p:extLst>
      <p:ext uri="{BB962C8B-B14F-4D97-AF65-F5344CB8AC3E}">
        <p14:creationId xmlns:p14="http://schemas.microsoft.com/office/powerpoint/2010/main" val="20633363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20A57-A5D8-4485-878F-6EAD890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8E929-4A2C-4F77-A9DC-C8033CA3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E0460-B2A4-415C-8AF0-7F97137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07116-1711-4DAB-B7E0-5A4C22E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RECENT    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F793C-9452-4559-9EE1-1D719706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093B2-20E1-4C9A-AC5D-F375BB1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What's new in the repo.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05181-CD42-4547-9C73-5829A22C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A quick look at the most recent shipped work — straight from the commit log.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23CA5-1CDB-4521-A206-4C1842F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4E76B-1529-4884-A53D-7CA4306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05BB9-0D9A-43F2-8095-C8A474A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F8344"/>
                </a:solidFill>
              </a:defRPr>
            </a:pPr>
            <a:r>
              <a:rPr sz="900" b="1">
                <a:solidFill>
                  <a:srgbClr val="3F8344"/>
                </a:solidFill>
              </a:rPr>
              <a:t>44953da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E8975-20AF-4446-AC99-1B607FB0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5265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5F4"/>
                </a:solidFill>
              </a:defRPr>
            </a:pPr>
            <a:r>
              <a:rPr sz="1200">
                <a:solidFill>
                  <a:srgbClr val="F5F5F4"/>
                </a:solidFill>
              </a:rPr>
              <a:t>Add email reset for PIN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59726-D9B7-4DB8-9570-8CCB2AEA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>
              <a:alpha val="13333"/>
            </a:srgbClr>
          </a:solidFill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AAA48-1FC1-4AC2-899F-F629B633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F8344"/>
                </a:solidFill>
              </a:defRPr>
            </a:pPr>
            <a:r>
              <a:rPr sz="750" b="1">
                <a:solidFill>
                  <a:srgbClr val="3F8344"/>
                </a:solidFill>
              </a:rPr>
              <a:t>LATEST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12EEA-B46C-4BF1-A01A-3C7CF226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D4B83-8522-4440-87F3-753DACE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757F0-3BFB-429B-A766-BDFF246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D73C9-1692-41D4-87BD-4C4E77CF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b079c7d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2A70D-813E-45D6-B163-6F703A11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5F4"/>
                </a:solidFill>
              </a:defRPr>
            </a:pPr>
            <a:r>
              <a:rPr sz="1200">
                <a:solidFill>
                  <a:srgbClr val="F5F5F4"/>
                </a:solidFill>
              </a:rPr>
              <a:t>Bump CI to Node 24 (was Node 20)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06BA8-CC90-402D-8C96-9C9BABF4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194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1E9EB-30BF-48DB-B777-A21F457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19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8BDF8"/>
                </a:solidFill>
              </a:defRPr>
            </a:pPr>
            <a:r>
              <a:rPr sz="750" b="1">
                <a:solidFill>
                  <a:srgbClr val="38BDF8"/>
                </a:solidFill>
              </a:rPr>
              <a:t>RECENT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035D3-4A31-4E12-9F6F-91110736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B8850-967F-48AA-9916-D89EE37F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3EA7C-6862-4FCE-A1F0-3B2130C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BB9A7-8ECA-485A-9B0D-C7EF25F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8BDF8"/>
                </a:solidFill>
              </a:defRPr>
            </a:pPr>
            <a:r>
              <a:rPr sz="900" b="1">
                <a:solidFill>
                  <a:srgbClr val="38BDF8"/>
                </a:solidFill>
              </a:rPr>
              <a:t>7b25e64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502FC-D671-40F8-BAB1-EC08C1BF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8615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5F4"/>
                </a:solidFill>
              </a:defRPr>
            </a:pPr>
            <a:r>
              <a:rPr sz="1200">
                <a:solidFill>
                  <a:srgbClr val="F5F5F4"/>
                </a:solidFill>
              </a:rPr>
              <a:t>Split CI into 3 jobs: lint, build, preview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55CA4-4BB4-491E-A74D-11E5F835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861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B683E-A30C-405C-8DF2-37288A2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86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38BDF8"/>
                </a:solidFill>
              </a:defRPr>
            </a:pPr>
            <a:r>
              <a:rPr sz="750" b="1">
                <a:solidFill>
                  <a:srgbClr val="38BDF8"/>
                </a:solidFill>
              </a:rPr>
              <a:t>RECENT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72C6E-C3CA-4F21-8ADE-900FDD5A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44E1D-E9D8-49C7-AA34-2FE2C0B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AD5C7-932E-4BB8-ABCB-F57199B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264598-1D42-4154-929E-9B1F225B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f291f15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322A5F-A82C-4BDB-BB12-2DD1A89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5290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5F4"/>
                </a:solidFill>
              </a:defRPr>
            </a:pPr>
            <a:r>
              <a:rPr sz="1200">
                <a:solidFill>
                  <a:srgbClr val="F5F5F4"/>
                </a:solidFill>
              </a:rPr>
              <a:t>Add CI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3DF82-EEBA-42F6-9B52-C91B77EC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FE58B-1118-4FAF-AE3B-B429B63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</a:rPr>
              <a:t>EARLIER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BAE70F-4FD5-4B82-95E9-49058B13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A3E84-C147-4ACF-B705-792BD0D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9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BBFC9-17C0-4657-9E57-1F7FD900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047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4201A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8C4968-C12B-4E9C-81BD-98CBD86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A9994"/>
                </a:solidFill>
              </a:defRPr>
            </a:pPr>
            <a:r>
              <a:rPr sz="900" b="1">
                <a:solidFill>
                  <a:srgbClr val="8A9994"/>
                </a:solidFill>
              </a:rPr>
              <a:t>9954309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F9E12-CF86-4C1B-97AA-3A1A7633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1965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5F4"/>
                </a:solidFill>
              </a:defRPr>
            </a:pPr>
            <a:r>
              <a:rPr sz="1200">
                <a:solidFill>
                  <a:srgbClr val="F5F5F4"/>
                </a:solidFill>
              </a:rPr>
              <a:t>Initial commit: VolunteerTrack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51BAD-39ED-4049-95C9-7A04FD5D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19650"/>
            <a:ext cx="1066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994">
              <a:alpha val="13333"/>
            </a:srgbClr>
          </a:solidFill>
          <a:ln xmlns:a="http://schemas.openxmlformats.org/drawingml/2006/main" w="9525">
            <a:solidFill>
              <a:srgbClr val="8A999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E14876-5BF5-4068-ABEA-D9AF2476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19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V0.1.0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F02A95-4452-4350-AF26-F98D5D0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0525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B240E-8BAF-47F9-B147-99049720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913D3-469A-48F3-827B-456710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9A841-874D-4D86-BB29-C8F0362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F7992-8000-4BB6-AEEC-A152897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AUDIENCE    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5C1A5-4A02-430D-8DA3-2171A19D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8ABEA-1FCA-44DA-B2BE-3936AF1F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Who VolunTrack is for, and where it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D405B-CD60-4D50-9695-C3CAC3A8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Built for students first — and for the clubs, advisors, and schools who support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EBC40-0FE3-426B-B5F0-D9402E9E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8080B-03F9-4C55-970B-F0A4ABD6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8344"/>
                </a:solidFill>
              </a:defRPr>
            </a:pPr>
            <a:r>
              <a:rPr sz="1350" b="1">
                <a:solidFill>
                  <a:srgbClr val="3F8344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F69A9-F70C-4133-B709-1A31E9B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5F4"/>
                </a:solidFill>
              </a:defRPr>
            </a:pPr>
            <a:r>
              <a:rPr sz="1200" b="1">
                <a:solidFill>
                  <a:srgbClr val="F5F5F4"/>
                </a:solidFill>
              </a:rPr>
              <a:t>High school volunteers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8E9C5-0FBC-4E04-A53A-ED81F76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Building a college application record. Needs PDF, certificate, simple proof upload.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CECC1-E27D-4AFA-8852-0F8D1421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C755D-991D-4C1D-86E3-37D86F04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8344"/>
                </a:solidFill>
              </a:defRPr>
            </a:pPr>
            <a:r>
              <a:rPr sz="1350" b="1">
                <a:solidFill>
                  <a:srgbClr val="3F834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9C894-2453-4E62-90C3-FC30E83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5F4"/>
                </a:solidFill>
              </a:defRPr>
            </a:pPr>
            <a:r>
              <a:rPr sz="1200" b="1">
                <a:solidFill>
                  <a:srgbClr val="F5F5F4"/>
                </a:solidFill>
              </a:rPr>
              <a:t>Club &amp; organization leads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11F18-82A8-43F3-AD62-C15BADA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Tracking collective hours for end-of-year reports. Needs goal + reminder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BAB51-3657-4698-B147-960C028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43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B1068-991B-49C8-AFCE-4A5F081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8344"/>
                </a:solidFill>
              </a:defRPr>
            </a:pPr>
            <a:r>
              <a:rPr sz="1350" b="1">
                <a:solidFill>
                  <a:srgbClr val="3F8344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1ACC6-421F-4ECC-A082-37847B2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F5F4"/>
                </a:solidFill>
              </a:defRPr>
            </a:pPr>
            <a:r>
              <a:rPr sz="1200" b="1">
                <a:solidFill>
                  <a:srgbClr val="F5F5F4"/>
                </a:solidFill>
              </a:rPr>
              <a:t>School advisors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C1E30-D92E-4B6A-AD66-9B55123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BD5D1"/>
                </a:solidFill>
              </a:defRPr>
            </a:pPr>
            <a:r>
              <a:rPr sz="900">
                <a:solidFill>
                  <a:srgbClr val="CBD5D1"/>
                </a:solidFill>
              </a:rPr>
              <a:t>Verifying supervisor sign-off without a portal. Needs CSV export and printable certs.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555F2-46CE-4AEE-8F45-8BEC8E02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3721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2435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747D4-BFE8-427B-B986-5AE3CFFB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WHERE IT RUNS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7D618-1DB6-48BE-8569-BE1AF269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HOSTING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635CD-0317-49D0-971E-9F04695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670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GitHub Pages (static SPA)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16982-8323-40A6-A801-23D009C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INSTALL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5F6C7-ED77-4CBA-A5F7-5F9EA86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PWA · installable on iOS, Android, desktop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A7E68-B8AD-4861-8F0C-FFB00909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WORKS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7941E-B0AB-4346-A80A-4F932EBC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28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Offline after first visit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F657A-E801-4582-B478-289C4321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REPO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2FA76-E6E9-4B39-91C9-7B479E5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957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github.com/Hriday21223/VolunteerTrack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66F46C-18A9-4B5D-82D0-045D3E33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83C3CA-4D50-4B36-B9FD-C4E84CA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hriday21223.github.io/VolunteerTrack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3F690-6F2D-4E39-8AB4-06A368C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LICENSE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037C8F-06F6-4311-AC15-D35F4FE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5F4"/>
                </a:solidFill>
              </a:defRPr>
            </a:pPr>
            <a:r>
              <a:rPr sz="975">
                <a:solidFill>
                  <a:srgbClr val="F5F5F4"/>
                </a:solidFill>
              </a:rPr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1978820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8D4DC-1896-4B7B-92C6-F9BB9DD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-1714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344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48762-CF70-40C1-8096-FDAED0E6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15D92-068D-4050-B4FA-14B09C4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F8344"/>
                </a:solidFill>
              </a:defRPr>
            </a:pPr>
            <a:r>
              <a:rPr sz="825" b="1">
                <a:solidFill>
                  <a:srgbClr val="3F8344"/>
                </a:solidFill>
              </a:rPr>
              <a:t>VOLUNTRACK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350A4-D49B-4B43-883C-BEFC878C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9994"/>
                </a:solidFill>
              </a:defRPr>
            </a:pPr>
            <a:r>
              <a:rPr sz="750" b="1">
                <a:solidFill>
                  <a:srgbClr val="8A9994"/>
                </a:solidFill>
              </a:rPr>
              <a:t>NEXT    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7ED14-CB5C-4705-862C-B203E27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AA07-C7E9-44B1-A76C-17F4D73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5F4"/>
                </a:solidFill>
              </a:defRPr>
            </a:pPr>
            <a:r>
              <a:rPr sz="3000" b="1">
                <a:solidFill>
                  <a:srgbClr val="F5F5F4"/>
                </a:solidFill>
              </a:rPr>
              <a:t>Try it, fork it, ship it with your students.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8EFC-2D98-40C1-B77D-06848E79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D1"/>
                </a:solidFill>
              </a:defRPr>
            </a:pPr>
            <a:r>
              <a:rPr sz="1200">
                <a:solidFill>
                  <a:srgbClr val="CBD5D1"/>
                </a:solidFill>
              </a:rPr>
              <a:t>VolunTrack is free, open, and already running. Three ways to take the next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1FE31-E4A3-4D57-BA5F-05E5064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54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D92BF-63D1-422B-84E8-F73D1CF4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8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F991E-2091-431F-A158-1F794570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1A44-8727-4BEF-BAD0-A56FA6D5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99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4"/>
                </a:solidFill>
              </a:defRPr>
            </a:pPr>
            <a:r>
              <a:rPr sz="1650" b="1">
                <a:solidFill>
                  <a:srgbClr val="F5F5F4"/>
                </a:solidFill>
              </a:rPr>
              <a:t>Use the live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CDD0C-AAA5-4BEF-8FEB-BDA957DD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Sign in with any email + password (data stays on your device).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AE04F-81B1-4B7A-B030-8C58EF2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299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B3B02-8F39-47AC-A9C7-2C027BAD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99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F8344"/>
                </a:solidFill>
              </a:defRPr>
            </a:pPr>
            <a:r>
              <a:rPr sz="900">
                <a:solidFill>
                  <a:srgbClr val="3F8344"/>
                </a:solidFill>
              </a:rPr>
              <a:t>hriday21223.github.io/VolunteerTrack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77B7D-3C3D-49E2-B606-F28573A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095500"/>
            <a:ext cx="3454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30C721-B020-4EB5-962C-A8B57996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3241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29EBE-EF90-49F4-A61C-7172A7C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324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FF792-F9FC-4B36-BCF2-7B70298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781300"/>
            <a:ext cx="299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4"/>
                </a:solidFill>
              </a:defRPr>
            </a:pPr>
            <a:r>
              <a:rPr sz="1650" b="1">
                <a:solidFill>
                  <a:srgbClr val="F5F5F4"/>
                </a:solidFill>
              </a:rPr>
              <a:t>Fork the repo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CA352-40B4-4C1B-AE58-5C0A489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5052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Clone, npm install, npm run dev. PRs welcome.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126E-DECB-4044-A6E8-BF158C3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533900"/>
            <a:ext cx="299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4661F-2DEF-4284-8FB5-A4F452C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610100"/>
            <a:ext cx="299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8BDF8"/>
                </a:solidFill>
              </a:defRPr>
            </a:pPr>
            <a:r>
              <a:rPr sz="900">
                <a:solidFill>
                  <a:srgbClr val="38BDF8"/>
                </a:solidFill>
              </a:rPr>
              <a:t>github.com/Hriday21223/VolunteerTrack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43C70-535D-46CF-8368-A031E7B9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095500"/>
            <a:ext cx="34544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F1A14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E28CB-0FBF-4A49-8F59-75A5B6F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324100"/>
            <a:ext cx="666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050FA-3F93-4518-9FB2-FBE3780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324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D3434-B8C9-4A36-BCCC-907503A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81300"/>
            <a:ext cx="299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4"/>
                </a:solidFill>
              </a:defRPr>
            </a:pPr>
            <a:r>
              <a:rPr sz="1650" b="1">
                <a:solidFill>
                  <a:srgbClr val="F5F5F4"/>
                </a:solidFill>
              </a:rPr>
              <a:t>Bring it to your school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30888-B955-40F2-9FF3-8D95F67D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505200"/>
            <a:ext cx="299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BD5D1"/>
                </a:solidFill>
              </a:defRPr>
            </a:pPr>
            <a:r>
              <a:rPr sz="975">
                <a:solidFill>
                  <a:srgbClr val="CBD5D1"/>
                </a:solidFill>
              </a:rPr>
              <a:t>Phase 3: verified supervisor flow and org-wide plans.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9C67B-86FA-4207-BFC4-2A11DD5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533900"/>
            <a:ext cx="299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C7AB9-6BEB-49A5-9754-9A0C801E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610100"/>
            <a:ext cx="299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9E0B"/>
                </a:solidFill>
              </a:defRPr>
            </a:pPr>
            <a:r>
              <a:rPr sz="900">
                <a:solidFill>
                  <a:srgbClr val="F59E0B"/>
                </a:solidFill>
              </a:rPr>
              <a:t>Open an issue to start the conversation</a:t>
            </a:r>
          </a:p>
        </p:txBody>
      </p:sp>
    </p:spTree>
    <p:extLst>
      <p:ext uri="{BB962C8B-B14F-4D97-AF65-F5344CB8AC3E}">
        <p14:creationId xmlns:p14="http://schemas.microsoft.com/office/powerpoint/2010/main" val="1561564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2026-06-24T00:43:58.7570000Z</dcterms:created>
  <dcterms:modified xsi:type="dcterms:W3CDTF">2026-06-24T00:43:58.7570000Z</dcterms:modified>
</coreProperties>
</file>